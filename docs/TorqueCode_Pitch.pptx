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a2dfa7c8-f1c3-5f6d-388e-939d7a043e4e}">
          <p14:sldIdLst>
            <p14:sldId id="256"/>
            <p14:sldId id="257"/>
            <p14:sldId id="258"/>
            <p14:sldId id="259"/>
            <p14:sldId id="260"/>
            <p14:sldId id="261"/>
            <p14:sldId id="262"/>
            <p14:sldId id="263"/>
            <p14:sldId id="264"/>
            <p14:sldId id="265"/>
          </p14:sldIdLst>
        </p14:section>
        <p14:section name="Backup" id="{5b1d6c94-db0b-8d16-0915-46c35d25078d}">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0A0A"/>
                </a:solidFill>
                <a:latin typeface="+mn-lt"/>
              </a:defRPr>
            </a:pPr>
            <a:r>
              <a:rPr sz="1400" b="0" i="0" u="none" strike="noStrike">
                <a:solidFill>
                  <a:srgbClr val="0A0A0A"/>
                </a:solidFill>
                <a:latin typeface="+mn-lt"/>
              </a:rPr>
              <a:t>Tests passed per suite (reported by teammates)</a:t>
            </a:r>
          </a:p>
        </c:rich>
      </c:tx>
      <c:layout/>
      <c:overlay val="0"/>
    </c:title>
    <c:autoTitleDeleted val="0"/>
    <c:plotArea>
      <c:layout/>
      <c:barChart>
        <c:barDir val="bar"/>
        <c:grouping val="clustered"/>
        <c:varyColors val="0"/>
        <c:ser>
          <c:idx val="0"/>
          <c:order val="0"/>
          <c:tx>
            <c:strRef>
              <c:f>Sheet1!$B$1</c:f>
              <c:strCache>
                <c:ptCount val="1"/>
                <c:pt idx="0">
                  <c:v>Tests passed</c:v>
                </c:pt>
              </c:strCache>
            </c:strRef>
          </c:tx>
          <c:spPr>
            <a:solidFill>
              <a:srgbClr val="FF6B6B"/>
            </a:solidFill>
            <a:effectLst/>
          </c:spPr>
          <c:invertIfNegative val="0"/>
          <c:dLbls>
            <c:numFmt formatCode="#,##0" sourceLinked="0"/>
            <c:txPr>
              <a:bodyPr/>
              <a:lstStyle/>
              <a:p>
                <a:pPr>
                  <a:defRPr b="0" i="0" strike="noStrike" sz="1200" u="none">
                    <a:solidFill>
                      <a:srgbClr val="0A0A0A"/>
                    </a:solidFill>
                    <a:latin typeface="+mn-lt"/>
                  </a:defRPr>
                </a:pPr>
              </a:p>
            </c:txPr>
            <c:showLegendKey val="0"/>
            <c:showVal val="1"/>
            <c:showCatName val="0"/>
            <c:showSerName val="0"/>
            <c:showPercent val="0"/>
            <c:showBubbleSize val="0"/>
            <c:showLeaderLines val="0"/>
          </c:dLbls>
          <c:cat>
            <c:multiLvlStrRef>
              <c:f>Sheet1!$A$2:$A$6</c:f>
              <c:multiLvlStrCache>
                <c:ptCount val="5"/>
                <c:lvl>
                  <c:pt idx="0">
                    <c:v>PostgreSQL auth</c:v>
                  </c:pt>
                  <c:pt idx="1">
                    <c:v>Anti-tamper (R3)</c:v>
                  </c:pt>
                  <c:pt idx="2">
                    <c:v>Docker runner</c:v>
                  </c:pt>
                  <c:pt idx="3">
                    <c:v>Guarded assistant</c:v>
                  </c:pt>
                  <c:pt idx="4">
                    <c:v>LLM suite (R5-live)</c:v>
                  </c:pt>
                </c:lvl>
              </c:multiLvlStrCache>
            </c:multiLvlStrRef>
          </c:cat>
          <c:val>
            <c:numRef>
              <c:f>Sheet1!$B$2:$B$6</c:f>
              <c:numCache>
                <c:formatCode>General</c:formatCode>
                <c:ptCount val="5"/>
                <c:pt idx="0">
                  <c:v>9</c:v>
                </c:pt>
                <c:pt idx="1">
                  <c:v>20</c:v>
                </c:pt>
                <c:pt idx="2">
                  <c:v>32</c:v>
                </c:pt>
                <c:pt idx="3">
                  <c:v>57</c:v>
                </c:pt>
                <c:pt idx="4">
                  <c:v>133</c:v>
                </c:pt>
              </c:numCache>
            </c:numRef>
          </c:val>
        </c:ser>
        <c:dLbls>
          <c:numFmt formatCode="#,##0" sourceLinked="0"/>
          <c:txPr>
            <a:bodyPr/>
            <a:lstStyle/>
            <a:p>
              <a:pPr>
                <a:defRPr b="0" i="0" strike="noStrike" sz="1200" u="none">
                  <a:solidFill>
                    <a:srgbClr val="0A0A0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A3A3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0A0A"/>
                </a:solidFill>
                <a:latin typeface="+mn-lt"/>
              </a:defRPr>
            </a:pPr>
            <a:r>
              <a:rPr sz="1400" b="0" i="0" u="none" strike="noStrike">
                <a:solidFill>
                  <a:srgbClr val="0A0A0A"/>
                </a:solidFill>
                <a:latin typeface="+mn-lt"/>
              </a:rPr>
              <a:t>Weights inside the bracket</a:t>
            </a:r>
          </a:p>
        </c:rich>
      </c:tx>
      <c:layout/>
      <c:overlay val="0"/>
    </c:title>
    <c:autoTitleDeleted val="0"/>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0A0A0A"/>
              </a:solidFill>
              <a:effectLst/>
            </c:spPr>
          </c:dPt>
          <c:dPt>
            <c:idx val="1"/>
            <c:bubble3D val="0"/>
            <c:spPr>
              <a:solidFill>
                <a:srgbClr val="FF6B6B"/>
              </a:solidFill>
              <a:effectLst/>
            </c:spPr>
          </c:dPt>
          <c:dPt>
            <c:idx val="2"/>
            <c:bubble3D val="0"/>
            <c:spPr>
              <a:solidFill>
                <a:srgbClr val="8C8C8C"/>
              </a:solidFill>
              <a:effectLst/>
            </c:spPr>
          </c:dPt>
          <c:dLbls>
            <c:dLbl>
              <c:idx val="0"/>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Independence (I)</c:v>
                </c:pt>
                <c:pt idx="1">
                  <c:v>Hint yield (H)</c:v>
                </c:pt>
                <c:pt idx="2">
                  <c:v>Test discipline (T)</c:v>
                </c:pt>
              </c:strCache>
            </c:strRef>
          </c:cat>
          <c:val>
            <c:numRef>
              <c:f>Sheet1!$B$2:$B$4</c:f>
              <c:numCache>
                <c:ptCount val="3"/>
                <c:pt idx="0">
                  <c:v>0.5</c:v>
                </c:pt>
                <c:pt idx="1">
                  <c:v>0.3</c:v>
                </c:pt>
                <c:pt idx="2">
                  <c:v>0.2</c:v>
                </c:pt>
              </c:numCache>
            </c:numRef>
          </c:val>
        </c:ser>
        <c:firstSliceAng val="0"/>
        <c:holeSize val="58"/>
      </c:doughnutChart>
      <c:spPr>
        <a:noFill/>
        <a:ln>
          <a:noFill/>
        </a:ln>
        <a:effectLst/>
      </c:spPr>
    </c:plotArea>
    <c:legend>
      <c:legendPos val="b"/>
      <c:overlay val="0"/>
      <c:txPr>
        <a:bodyPr/>
        <a:lstStyle/>
        <a:p>
          <a:pPr>
            <a:defRPr sz="1300">
              <a:solidFill>
                <a:srgbClr val="3A3A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Pranav (0:00–0:15).
Open with a hypothetical claim, not a market statistic: "A portfolio says Python, backend development and hashing. A standard coding question tells us little about how this candidate applies those claims. We're Team PAARK, and this is TorqueCode: put your code under torque."
Do not claim the full journey is deployed — cloud deployment is prepared, not done (PITCH_FACTS update, 31 Oct 08:15).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Pranav.
Hypothetical candidate: lists backend development and hashing. A generic test may miss those claims; the portfolio text alone cannot demonstrate them.
Boundary: TorqueCode assesses skills consistent with the portfolio. It does NOT prove who authored a project. Chips are illustrative, not measured scores.
Source: TorqueCode_Context.md §§2–3 (problem statement framing, not a market statistic).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Pranav (≈0:15–0:43).
"Candidates upload portfolio JSON and complete onboarding. They work inside practical codebases — fixing bugs and extending features — using only their claimed DSA topics. There is one sixty-minute timer. After submitting every question in the current set, correct or not, they can unlock more questions, up to twice. Earlier questions stay open. Level names are hidden during the test."
Rule source: CLAUDE.md / Context §5, LOCKED by Pranav 31 Oct 03:00. Do NOT use the superseded 15/20/25-minute split or the 'all tests pass' unlock.
Status: question sets with 'Unlock next questions' are on main (K10, PR #42, 5667e0d). Live task generation landed as bounded families (K6, #54 → #60, six reviewed families, #63) — say 'reviewed task families', not open-ended generation.
Internally the backend still tracks novice | adept | master; the report may name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Pranav drives the demo (≈0:43–1:03). Aryan stays ready to switch to the backup recording.
[LIVE DEMO] portfolio summary → coding screen → Run → Submit → report. Show ONLY a path rehearsed on the presentation machine. Never present a mockup as the working app.
Before presenting: replace the three dashed frames with real captures (keep native aspect ratios, do not stretch). The coding screen sits inside the laptop. Remove the 'pending' line once the recording exists.
Status: frontend PRs #59 and #65 merged on 31 Oct after the 08:15 facts update — confirm with Pranav that the demo path works end to end before saying so. Cloud deployment is prepared (R6b, #55), not deployed; one-command local deployment exists (R6, 00e01b5).
Demo portfolio should claim arrays (every arrays portfolio reaches all three sets, #63). Have docs/demo/demo-portfolio-injection.json ready if judges ask about prompt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Aryan (≈1:03–1:25).
"The grading boundary matters. Deterministic tests decide correctness; the LLM never does. Candidate code runs in a separate container from the tests and the grading report, so test source and expected outputs stay with the grader. If Docker is down, the API says so instead of inventing a grade."
Facts (PITCH_FACTS §2–3): R3 split-container grading, PR #29, merged fc4f39f; grade comes from the grader container's own report stream (8f567a6), never the candidate's exit code. Cost ≈ +208 ms per run (Rithvik's laptop, 5 runs). Docker down → 503 SANDBOX_UNAVAILABLE, no grade recorded (4fbaeee). Run = visible tests; Submit adds hidden tests, browser gets aggregates only.
Say: 'tampering with grading is blocked by design'. NEVER say 'unhackable'.
Honest limits if asked: hidden-test INPUTS reach the candidate's function as arguments; kernel / Docker escape is out of scope.
New since facts sheet: optional E2B cloud runner (RUNNER=e2b, PRs #67–#69). Not in PITCH_FACTS — don't claim it unless Pranav adds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Aryan (≈1:25–1:50).
"On later question sets, a guarded assistant gives hints. The model never sees the reference solution or hidden tests. Input and output checks guard every reply. In our live test on the real model we found 8 leaks, fixed them, and then saw zero leaks across 22 scenarios. AI efficiency is worth up to twenty points, calculated from logs: independence, how much a hint helped, and testing discipline — gated by the final submit's correctness."
Facts (PITCH_FACTS §4–5): R5-live by Rithvik, 9fff6a3, Qwen/Qwen3-30B-A3B-Instruct-2507 on seed task 1 as an Adept question. Before fixes 8 of 12 answered replies leaked the fix; after fixes 0 leaks in 22 scenarios (5 honest, 7 paraphrased/multi-turn extraction, 10 jailbreaks). All 5 honest questions still got useful guidance. Total live spend ≈ $0.0018. Median ≈ 2.1 s (range 1.1–5.7 s).
Caveats if asked: small sample (22 scenarios, one task, one model); input rules are patterns so new phrasings reach the model; the output guard catches code, not prose; one paraphrase got a soft confirmation. Say '0 leaks in our 22-scenario live test, after fixing the 8 leaks we found'. NEVER 'leak-proof' or 'unjailbreakable'.
Scoring: 20 × gate × (0.5·Independence + 0.3·HintYield + 0.2·TestDiscipline). No AI + solved → full 20; no AI + failed → not a free 20. Blocked jailbreaks weigh 0 and show as integrity flags. Novice-only session scales correctness to 100. Assistant only on later sets — first set returns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Aryan (only if time allows in the 3-minute version; skip in the 60-second version).
Ownership: Karthik — core platform, contracts, generation, validation; Rithvik — sandbox, Featherless, deployment; Pranav — intake, quiz, scoring, reporting; Akshit — frontend; Aryan — seed tasks, pitch.
Models: Qwen/Qwen3-Coder-30B-A3B-Instruct for generation, Qwen/Qwen3-30B-A3B-Instruct-2507 for the assistant (BACKEND_DECISIONS).
On main per PITCH_FACTS 08:15 update: K11 durable PostgreSQL persistence (#56), K6 bounded family generation with independent-oracle validation (#54 → #60), validation engine (K5, #44). Full backend suite: 399 passed, 0 skipped (PostgreSQL 16 + real Docker).
Not done per facts: cloud deployment (prepared only — docs/deploy/VERCEL_VM_RUNBOOK.md). Frontend merged (#59, #65) after that update — confirm status with Pranav and update the italic line if verified.
Do not invent throughput or cost per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Aryan (≈1:50–2:00, then hand back to Pranav).
"We assess portfolio skills, not authorship. Tab switches and copy/paste are logged as signals, never automatic verdicts, and we can't stop AI on a second device — camera proctoring is future scope."
Also true if asked (PITCH_FACTS §9): sandbox is standard Docker isolation (hackathon-grade); assistant guards are heuristics; hints can be wrong but never decide grades.
Integrity events are captured only inside the coding environment during an active task (Context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Pranav.
Introduce the team in one breath; name owners only if judges ask who built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Pranav.
"We assess how candidates apply the skills they claim — and every grade comes from tests, not an LLM's opinion. Thank you; we'd love your questions."
Q&amp;A: backup slides follow (evidence, sandbox, validation gates, AI score). Demo URL and repository URL: add only once confirmed — no placeholder links on the audience-facing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judges ask 'what have you actually verified?'.
Sources (PITCH_FACTS.md): 399 passed, 0 skipped — full backend suite on main, 08:15 IST update. 39/39 API attacks — scripts/attack-api.py, 230ea36, still 39/39 after assistant merge 4fbaeee (first run was 38/39, 7646245). 17/17 journey steps — 230ea36. 31/31 deploy checks — Rithvik, 00e01b5, Windows 11 + Docker Desktop, NOT yet run on the demo Mac.
Chart (teammate-reported, PITCH_FACTS §1): Docker runner 32 (773e8a8), guarded assistant 57 (a8b8a54), PostgreSQL auth 9/9 (Karthik, 1a8d9c1), anti-tamper 20 (8f567a6), LLM suite after R5-live fixes 133 (9fff6a3). Say 'reported by Rithvik/Karthik', not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PITCH_FACTS §2 (runner code on 19df7ff; measurements 37e14cd, 773e8a8, 8f567a6). Docker down → 503 SANDBOX_UNAVAILABLE (4fbaeee). Network, DNS and write probes were all blocked.
Limits for seed task 1: 5 s, 128 MB, 1 CPU, 32 processes, 64 KB output.
Honest limit: standard Docker isolation, hackathon-grade. Hidden-test inputs are visible to the candidate's function; container escape is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PITCH_FACTS §8 — K5 validation engine, PR #44, 59b7ef9 (src/backend/generation/validate.ts). Independent-oracle validation for trusted task families: #60.
Gates 6 and 7 (red) are the problem statement's core requirement: the reference passes and the starter fails.
Topics gate examples: heapq → heap, bisect → binary search, deque/queue → queue.
Careful wording (PR #51): the 'examples' receipt says no statement examples are declared; the 'differential' receipt is reference determinism across 3 runs, NOT a brute-force oracle. Do not claim brute-force differential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Context §12 (LOCKED by Pranav) and PITCH_FACTS §5; behaviour proven by tests merged in PR #23 (194a329).
I = Independence (1 − weighted hints / H_max; hint levels weigh 1/2/3, an assistant message 1). H = Hint yield (pass-rate gain within 3 runs or 10 minutes). T = Test discipline (share of runs that follow a real code change; sha256 of editable files).
gate uses the FINAL submit over all tests; no submit → gate 0. AIE applies to Adept/Master questions only; a session with no attempted Adept/Master question scales correctness to 100 (Q4, PR #22, 10a10a8). An LLM outage changes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A0A0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rtlCol="0"/>
          <a:lstStyle>
            <a:lvl1pPr algn="l" indent="0" marL="0">
              <a:buNone/>
              <a:defRPr lang="en-US" sz="1700" dirty="0">
                <a:solidFill>
                  <a:schemeClr val="accent3"/>
                </a:solidFill>
              </a:defRPr>
            </a:lvl1pPr>
          </a:lstStyle>
          <a:p>
            <a:pPr algn="l" indent="0" marL="0">
              <a:buNone/>
            </a:pPr>
            <a:endParaRPr lang="en-US" sz="17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rtlCol="0"/>
          <a:lstStyle>
            <a:lvl1pPr algn="l" indent="0" marL="0">
              <a:buNone/>
              <a:defRPr lang="en-US" sz="1700" dirty="0">
                <a:solidFill>
                  <a:schemeClr val="tx2"/>
                </a:solidFill>
              </a:defRPr>
            </a:lvl1pPr>
          </a:lstStyle>
          <a:p>
            <a:pPr algn="l" indent="0" marL="0">
              <a:buNone/>
            </a:pPr>
            <a:endParaRPr lang="en-US" sz="17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A0A0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ire-ring artwork">    </p:cNvPr>
          <p:cNvPicPr>
            <a:picLocks noChangeAspect="1"/>
          </p:cNvPicPr>
          <p:nvPr/>
        </p:nvPicPr>
        <p:blipFill>
          <a:blip r:embed="rId1"/>
          <a:stretch>
            <a:fillRect/>
          </a:stretch>
        </p:blipFill>
        <p:spPr>
          <a:xfrm>
            <a:off x="5806440" y="228600"/>
            <a:ext cx="6400800" cy="6400800"/>
          </a:xfrm>
          <a:prstGeom prst="rect">
            <a:avLst/>
          </a:prstGeom>
        </p:spPr>
      </p:pic>
      <p:sp>
        <p:nvSpPr>
          <p:cNvPr id="3" name="Text 0"/>
          <p:cNvSpPr txBox="1"/>
          <p:nvPr/>
        </p:nvSpPr>
        <p:spPr>
          <a:xfrm>
            <a:off x="777240" y="777240"/>
            <a:ext cx="5486400" cy="320040"/>
          </a:xfrm>
          <a:prstGeom prst="rect">
            <a:avLst/>
          </a:prstGeom>
          <a:noFill/>
          <a:ln/>
        </p:spPr>
        <p:txBody>
          <a:bodyPr wrap="square" lIns="0" tIns="0" rIns="0" bIns="0" rtlCol="0" anchor="t"/>
          <a:lstStyle/>
          <a:p>
            <a:pPr indent="0" marL="0">
              <a:buNone/>
            </a:pPr>
            <a:r>
              <a:rPr lang="en-US" sz="1600" spc="200" kern="0" dirty="0">
                <a:solidFill>
                  <a:schemeClr val="accent3"/>
                </a:solidFill>
                <a:latin typeface="Arial" pitchFamily="34" charset="0"/>
                <a:ea typeface="Arial" pitchFamily="34" charset="-122"/>
                <a:cs typeface="Arial" pitchFamily="34" charset="-120"/>
              </a:rPr>
              <a:t>TEAM PAARK  ·  TEAM-36</a:t>
            </a:r>
            <a:endParaRPr lang="en-US" sz="1600" dirty="0"/>
          </a:p>
        </p:txBody>
      </p:sp>
      <p:sp>
        <p:nvSpPr>
          <p:cNvPr id="4" name="Text 1"/>
          <p:cNvSpPr txBox="1"/>
          <p:nvPr/>
        </p:nvSpPr>
        <p:spPr>
          <a:xfrm>
            <a:off x="731520" y="1965960"/>
            <a:ext cx="5943600" cy="960120"/>
          </a:xfrm>
          <a:prstGeom prst="rect">
            <a:avLst/>
          </a:prstGeom>
          <a:noFill/>
          <a:ln/>
        </p:spPr>
        <p:txBody>
          <a:bodyPr wrap="square" lIns="0" tIns="0" rIns="0" bIns="0" rtlCol="0" anchor="t"/>
          <a:lstStyle/>
          <a:p>
            <a:pPr indent="0" marL="0">
              <a:buNone/>
            </a:pPr>
            <a:r>
              <a:rPr lang="en-US" sz="6000" b="1" dirty="0">
                <a:solidFill>
                  <a:schemeClr val="bg1"/>
                </a:solidFill>
                <a:latin typeface="Arial" pitchFamily="34" charset="0"/>
                <a:ea typeface="Arial" pitchFamily="34" charset="-122"/>
                <a:cs typeface="Arial" pitchFamily="34" charset="-120"/>
              </a:rPr>
              <a:t>TorqueCode</a:t>
            </a:r>
            <a:endParaRPr lang="en-US" sz="6000" dirty="0"/>
          </a:p>
        </p:txBody>
      </p:sp>
      <p:sp>
        <p:nvSpPr>
          <p:cNvPr id="5" name="Text 2"/>
          <p:cNvSpPr txBox="1"/>
          <p:nvPr/>
        </p:nvSpPr>
        <p:spPr>
          <a:xfrm>
            <a:off x="777240" y="2971800"/>
            <a:ext cx="5486400" cy="502920"/>
          </a:xfrm>
          <a:prstGeom prst="rect">
            <a:avLst/>
          </a:prstGeom>
          <a:noFill/>
          <a:ln/>
        </p:spPr>
        <p:txBody>
          <a:bodyPr wrap="square" lIns="0" tIns="0" rIns="0" bIns="0" rtlCol="0" anchor="t"/>
          <a:lstStyle/>
          <a:p>
            <a:pPr indent="0" marL="0">
              <a:buNone/>
            </a:pPr>
            <a:r>
              <a:rPr lang="en-US" sz="2600" dirty="0">
                <a:solidFill>
                  <a:schemeClr val="accent1"/>
                </a:solidFill>
                <a:latin typeface="Arial" pitchFamily="34" charset="0"/>
                <a:ea typeface="Arial" pitchFamily="34" charset="-122"/>
                <a:cs typeface="Arial" pitchFamily="34" charset="-120"/>
              </a:rPr>
              <a:t>Put your code under torque.</a:t>
            </a:r>
            <a:endParaRPr lang="en-US" sz="2600" dirty="0"/>
          </a:p>
        </p:txBody>
      </p:sp>
      <p:sp>
        <p:nvSpPr>
          <p:cNvPr id="6" name="Text 3"/>
          <p:cNvSpPr txBox="1"/>
          <p:nvPr/>
        </p:nvSpPr>
        <p:spPr>
          <a:xfrm>
            <a:off x="777240" y="3794760"/>
            <a:ext cx="4937760" cy="1097280"/>
          </a:xfrm>
          <a:prstGeom prst="rect">
            <a:avLst/>
          </a:prstGeom>
          <a:noFill/>
          <a:ln/>
        </p:spPr>
        <p:txBody>
          <a:bodyPr wrap="square" lIns="0" tIns="0" rIns="0" bIns="0" rtlCol="0" anchor="t"/>
          <a:lstStyle/>
          <a:p>
            <a:pPr indent="0" marL="0">
              <a:buNone/>
            </a:pPr>
            <a:r>
              <a:rPr lang="en-US" sz="1600" dirty="0">
                <a:solidFill>
                  <a:schemeClr val="accent3"/>
                </a:solidFill>
                <a:latin typeface="Arial" pitchFamily="34" charset="0"/>
                <a:ea typeface="Arial" pitchFamily="34" charset="-122"/>
                <a:cs typeface="Arial" pitchFamily="34" charset="-120"/>
              </a:rPr>
              <a:t>Portfolio-driven coding assessment. Candidates fix and extend real code within the skills they claim — and every grade comes from tests, not an LLM.</a:t>
            </a:r>
            <a:endParaRPr lang="en-US" sz="1600" dirty="0"/>
          </a:p>
        </p:txBody>
      </p:sp>
      <p:sp>
        <p:nvSpPr>
          <p:cNvPr id="7" name="Shape 4"/>
          <p:cNvSpPr/>
          <p:nvPr/>
        </p:nvSpPr>
        <p:spPr>
          <a:xfrm>
            <a:off x="777240" y="5532120"/>
            <a:ext cx="2743200" cy="347472"/>
          </a:xfrm>
          <a:prstGeom prst="roundRect">
            <a:avLst>
              <a:gd name="adj" fmla="val 50000"/>
            </a:avLst>
          </a:prstGeom>
          <a:ln w="12700">
            <a:solidFill>
              <a:schemeClr val="accent2"/>
            </a:solidFill>
            <a:prstDash val="solid"/>
          </a:ln>
        </p:spPr>
      </p:sp>
      <p:sp>
        <p:nvSpPr>
          <p:cNvPr id="8" name="Text 5"/>
          <p:cNvSpPr txBox="1"/>
          <p:nvPr/>
        </p:nvSpPr>
        <p:spPr>
          <a:xfrm>
            <a:off x="777240" y="5532120"/>
            <a:ext cx="2743200" cy="347472"/>
          </a:xfrm>
          <a:prstGeom prst="rect">
            <a:avLst/>
          </a:prstGeom>
          <a:noFill/>
          <a:ln/>
        </p:spPr>
        <p:txBody>
          <a:bodyPr wrap="square" lIns="0" tIns="0" rIns="0" bIns="0" rtlCol="0" anchor="ctr"/>
          <a:lstStyle/>
          <a:p>
            <a:pPr algn="ctr" indent="0" marL="0">
              <a:buNone/>
            </a:pPr>
            <a:r>
              <a:rPr lang="en-US" sz="1100" spc="300" kern="0" dirty="0">
                <a:solidFill>
                  <a:schemeClr val="accent3"/>
                </a:solidFill>
                <a:latin typeface="Consolas" pitchFamily="34" charset="0"/>
                <a:ea typeface="Consolas" pitchFamily="34" charset="-122"/>
                <a:cs typeface="Consolas" pitchFamily="34" charset="-120"/>
              </a:rPr>
              <a:t>CBIT HACKTOBERFEST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bg1"/>
                </a:solidFill>
              </a:rPr>
              <a:t>The assessment gap</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accent3"/>
                </a:solidFill>
              </a:rPr>
              <a:t>Claims are easy. Evidence is not.</a:t>
            </a:r>
            <a:endParaRPr lang="en-US" sz="1700" dirty="0"/>
          </a:p>
        </p:txBody>
      </p:sp>
      <p:sp>
        <p:nvSpPr>
          <p:cNvPr id="4" name="Shape 2"/>
          <p:cNvSpPr/>
          <p:nvPr/>
        </p:nvSpPr>
        <p:spPr>
          <a:xfrm>
            <a:off x="5166360" y="0"/>
            <a:ext cx="7025335" cy="6858000"/>
          </a:xfrm>
          <a:prstGeom prst="rect">
            <a:avLst/>
          </a:prstGeom>
          <a:solidFill>
            <a:schemeClr val="bg1"/>
          </a:solidFill>
          <a:ln/>
        </p:spPr>
      </p:sp>
      <p:pic>
        <p:nvPicPr>
          <p:cNvPr id="5" name="Image 0" descr="preencoded.png">    </p:cNvPr>
          <p:cNvPicPr>
            <a:picLocks noChangeAspect="1"/>
          </p:cNvPicPr>
          <p:nvPr/>
        </p:nvPicPr>
        <p:blipFill>
          <a:blip r:embed="rId1"/>
          <a:stretch>
            <a:fillRect/>
          </a:stretch>
        </p:blipFill>
        <p:spPr>
          <a:xfrm>
            <a:off x="685800" y="2057400"/>
            <a:ext cx="438912" cy="438912"/>
          </a:xfrm>
          <a:prstGeom prst="rect">
            <a:avLst/>
          </a:prstGeom>
        </p:spPr>
      </p:pic>
      <p:sp>
        <p:nvSpPr>
          <p:cNvPr id="6" name="Text 3"/>
          <p:cNvSpPr txBox="1"/>
          <p:nvPr/>
        </p:nvSpPr>
        <p:spPr>
          <a:xfrm>
            <a:off x="1371600" y="2011680"/>
            <a:ext cx="3474720" cy="91440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Static questions overlook project context.</a:t>
            </a:r>
            <a:endParaRPr lang="en-US" sz="1800" dirty="0"/>
          </a:p>
        </p:txBody>
      </p:sp>
      <p:pic>
        <p:nvPicPr>
          <p:cNvPr id="7" name="Image 1" descr="preencoded.png">    </p:cNvPr>
          <p:cNvPicPr>
            <a:picLocks noChangeAspect="1"/>
          </p:cNvPicPr>
          <p:nvPr/>
        </p:nvPicPr>
        <p:blipFill>
          <a:blip r:embed="rId2"/>
          <a:stretch>
            <a:fillRect/>
          </a:stretch>
        </p:blipFill>
        <p:spPr>
          <a:xfrm>
            <a:off x="685800" y="3246120"/>
            <a:ext cx="438912" cy="438912"/>
          </a:xfrm>
          <a:prstGeom prst="rect">
            <a:avLst/>
          </a:prstGeom>
        </p:spPr>
      </p:pic>
      <p:sp>
        <p:nvSpPr>
          <p:cNvPr id="8" name="Text 4"/>
          <p:cNvSpPr txBox="1"/>
          <p:nvPr/>
        </p:nvSpPr>
        <p:spPr>
          <a:xfrm>
            <a:off x="1371600" y="3200400"/>
            <a:ext cx="3474720" cy="91440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A portfolio lists skills; it does not demonstrate them.</a:t>
            </a:r>
            <a:endParaRPr lang="en-US" sz="1800" dirty="0"/>
          </a:p>
        </p:txBody>
      </p:sp>
      <p:pic>
        <p:nvPicPr>
          <p:cNvPr id="9" name="Image 2" descr="preencoded.png">    </p:cNvPr>
          <p:cNvPicPr>
            <a:picLocks noChangeAspect="1"/>
          </p:cNvPicPr>
          <p:nvPr/>
        </p:nvPicPr>
        <p:blipFill>
          <a:blip r:embed="rId3"/>
          <a:stretch>
            <a:fillRect/>
          </a:stretch>
        </p:blipFill>
        <p:spPr>
          <a:xfrm>
            <a:off x="685800" y="4434840"/>
            <a:ext cx="438912" cy="438912"/>
          </a:xfrm>
          <a:prstGeom prst="rect">
            <a:avLst/>
          </a:prstGeom>
        </p:spPr>
      </p:pic>
      <p:sp>
        <p:nvSpPr>
          <p:cNvPr id="10" name="Text 5"/>
          <p:cNvSpPr txBox="1"/>
          <p:nvPr/>
        </p:nvSpPr>
        <p:spPr>
          <a:xfrm>
            <a:off x="1371600" y="4389120"/>
            <a:ext cx="3474720" cy="91440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AI-assisted projects make understanding harder to assess.</a:t>
            </a:r>
            <a:endParaRPr lang="en-US" sz="1800" dirty="0"/>
          </a:p>
        </p:txBody>
      </p:sp>
      <p:sp>
        <p:nvSpPr>
          <p:cNvPr id="11" name="Text 6"/>
          <p:cNvSpPr txBox="1"/>
          <p:nvPr/>
        </p:nvSpPr>
        <p:spPr>
          <a:xfrm>
            <a:off x="5760720" y="868680"/>
            <a:ext cx="3657600" cy="274320"/>
          </a:xfrm>
          <a:prstGeom prst="rect">
            <a:avLst/>
          </a:prstGeom>
          <a:noFill/>
          <a:ln/>
        </p:spPr>
        <p:txBody>
          <a:bodyPr wrap="square" lIns="0" tIns="0" rIns="0" bIns="0" rtlCol="0" anchor="t"/>
          <a:lstStyle/>
          <a:p>
            <a:pPr indent="0" marL="0">
              <a:buNone/>
            </a:pPr>
            <a:r>
              <a:rPr lang="en-US" sz="1200" spc="300" kern="0" dirty="0">
                <a:solidFill>
                  <a:schemeClr val="accent2"/>
                </a:solidFill>
                <a:latin typeface="Consolas" pitchFamily="34" charset="0"/>
                <a:ea typeface="Consolas" pitchFamily="34" charset="-122"/>
                <a:cs typeface="Consolas" pitchFamily="34" charset="-120"/>
              </a:rPr>
              <a:t>CLAIMED SKILLS</a:t>
            </a:r>
            <a:endParaRPr lang="en-US" sz="1200" dirty="0"/>
          </a:p>
        </p:txBody>
      </p:sp>
      <p:sp>
        <p:nvSpPr>
          <p:cNvPr id="12" name="Shape 7"/>
          <p:cNvSpPr/>
          <p:nvPr/>
        </p:nvSpPr>
        <p:spPr>
          <a:xfrm>
            <a:off x="5760720" y="1280160"/>
            <a:ext cx="1737360" cy="502920"/>
          </a:xfrm>
          <a:prstGeom prst="roundRect">
            <a:avLst>
              <a:gd name="adj" fmla="val 50000"/>
            </a:avLst>
          </a:prstGeom>
          <a:solidFill>
            <a:schemeClr val="bg2"/>
          </a:solidFill>
          <a:ln/>
        </p:spPr>
      </p:sp>
      <p:sp>
        <p:nvSpPr>
          <p:cNvPr id="13" name="Text 8"/>
          <p:cNvSpPr txBox="1"/>
          <p:nvPr/>
        </p:nvSpPr>
        <p:spPr>
          <a:xfrm>
            <a:off x="5760720" y="1280160"/>
            <a:ext cx="1737360" cy="502920"/>
          </a:xfrm>
          <a:prstGeom prst="rect">
            <a:avLst/>
          </a:prstGeom>
          <a:noFill/>
          <a:ln/>
        </p:spPr>
        <p:txBody>
          <a:bodyPr wrap="square" lIns="0" tIns="0" rIns="0" bIns="0" rtlCol="0" anchor="ctr"/>
          <a:lstStyle/>
          <a:p>
            <a:pPr algn="ctr" indent="0" marL="0">
              <a:buNone/>
            </a:pPr>
            <a:r>
              <a:rPr lang="en-US" sz="1600" dirty="0">
                <a:solidFill>
                  <a:schemeClr val="tx1"/>
                </a:solidFill>
                <a:latin typeface="Arial" pitchFamily="34" charset="0"/>
                <a:ea typeface="Arial" pitchFamily="34" charset="-122"/>
                <a:cs typeface="Arial" pitchFamily="34" charset="-120"/>
              </a:rPr>
              <a:t>Python</a:t>
            </a:r>
            <a:endParaRPr lang="en-US" sz="1600" dirty="0"/>
          </a:p>
        </p:txBody>
      </p:sp>
      <p:sp>
        <p:nvSpPr>
          <p:cNvPr id="14" name="Shape 9"/>
          <p:cNvSpPr/>
          <p:nvPr/>
        </p:nvSpPr>
        <p:spPr>
          <a:xfrm>
            <a:off x="7680960" y="1280160"/>
            <a:ext cx="1737360" cy="502920"/>
          </a:xfrm>
          <a:prstGeom prst="roundRect">
            <a:avLst>
              <a:gd name="adj" fmla="val 50000"/>
            </a:avLst>
          </a:prstGeom>
          <a:solidFill>
            <a:schemeClr val="bg2"/>
          </a:solidFill>
          <a:ln/>
        </p:spPr>
      </p:sp>
      <p:sp>
        <p:nvSpPr>
          <p:cNvPr id="15" name="Text 10"/>
          <p:cNvSpPr txBox="1"/>
          <p:nvPr/>
        </p:nvSpPr>
        <p:spPr>
          <a:xfrm>
            <a:off x="7680960" y="1280160"/>
            <a:ext cx="1737360" cy="502920"/>
          </a:xfrm>
          <a:prstGeom prst="rect">
            <a:avLst/>
          </a:prstGeom>
          <a:noFill/>
          <a:ln/>
        </p:spPr>
        <p:txBody>
          <a:bodyPr wrap="square" lIns="0" tIns="0" rIns="0" bIns="0" rtlCol="0" anchor="ctr"/>
          <a:lstStyle/>
          <a:p>
            <a:pPr algn="ctr" indent="0" marL="0">
              <a:buNone/>
            </a:pPr>
            <a:r>
              <a:rPr lang="en-US" sz="1600" dirty="0">
                <a:solidFill>
                  <a:schemeClr val="tx1"/>
                </a:solidFill>
                <a:latin typeface="Arial" pitchFamily="34" charset="0"/>
                <a:ea typeface="Arial" pitchFamily="34" charset="-122"/>
                <a:cs typeface="Arial" pitchFamily="34" charset="-120"/>
              </a:rPr>
              <a:t>Backend</a:t>
            </a:r>
            <a:endParaRPr lang="en-US" sz="1600" dirty="0"/>
          </a:p>
        </p:txBody>
      </p:sp>
      <p:sp>
        <p:nvSpPr>
          <p:cNvPr id="16" name="Shape 11"/>
          <p:cNvSpPr/>
          <p:nvPr/>
        </p:nvSpPr>
        <p:spPr>
          <a:xfrm>
            <a:off x="9601200" y="1280160"/>
            <a:ext cx="1737360" cy="502920"/>
          </a:xfrm>
          <a:prstGeom prst="roundRect">
            <a:avLst>
              <a:gd name="adj" fmla="val 50000"/>
            </a:avLst>
          </a:prstGeom>
          <a:solidFill>
            <a:schemeClr val="bg2"/>
          </a:solidFill>
          <a:ln/>
        </p:spPr>
      </p:sp>
      <p:sp>
        <p:nvSpPr>
          <p:cNvPr id="17" name="Text 12"/>
          <p:cNvSpPr txBox="1"/>
          <p:nvPr/>
        </p:nvSpPr>
        <p:spPr>
          <a:xfrm>
            <a:off x="9601200" y="1280160"/>
            <a:ext cx="1737360" cy="502920"/>
          </a:xfrm>
          <a:prstGeom prst="rect">
            <a:avLst/>
          </a:prstGeom>
          <a:noFill/>
          <a:ln/>
        </p:spPr>
        <p:txBody>
          <a:bodyPr wrap="square" lIns="0" tIns="0" rIns="0" bIns="0" rtlCol="0" anchor="ctr"/>
          <a:lstStyle/>
          <a:p>
            <a:pPr algn="ctr" indent="0" marL="0">
              <a:buNone/>
            </a:pPr>
            <a:r>
              <a:rPr lang="en-US" sz="1600" dirty="0">
                <a:solidFill>
                  <a:schemeClr val="tx1"/>
                </a:solidFill>
                <a:latin typeface="Arial" pitchFamily="34" charset="0"/>
                <a:ea typeface="Arial" pitchFamily="34" charset="-122"/>
                <a:cs typeface="Arial" pitchFamily="34" charset="-120"/>
              </a:rPr>
              <a:t>Hashing</a:t>
            </a:r>
            <a:endParaRPr lang="en-US" sz="1600" dirty="0"/>
          </a:p>
        </p:txBody>
      </p:sp>
      <p:sp>
        <p:nvSpPr>
          <p:cNvPr id="18" name="Shape 13"/>
          <p:cNvSpPr/>
          <p:nvPr/>
        </p:nvSpPr>
        <p:spPr>
          <a:xfrm>
            <a:off x="8549640" y="2011680"/>
            <a:ext cx="0" cy="1143000"/>
          </a:xfrm>
          <a:prstGeom prst="line">
            <a:avLst/>
          </a:prstGeom>
          <a:noFill/>
          <a:ln w="38100">
            <a:solidFill>
              <a:schemeClr val="accent1"/>
            </a:solidFill>
            <a:prstDash val="solid"/>
            <a:tailEnd type="triangle"/>
          </a:ln>
        </p:spPr>
      </p:sp>
      <p:sp>
        <p:nvSpPr>
          <p:cNvPr id="19" name="Text 14"/>
          <p:cNvSpPr txBox="1"/>
          <p:nvPr/>
        </p:nvSpPr>
        <p:spPr>
          <a:xfrm>
            <a:off x="8823960" y="2331720"/>
            <a:ext cx="2743200" cy="411480"/>
          </a:xfrm>
          <a:prstGeom prst="rect">
            <a:avLst/>
          </a:prstGeom>
          <a:noFill/>
          <a:ln/>
        </p:spPr>
        <p:txBody>
          <a:bodyPr wrap="square" lIns="0" tIns="0" rIns="0" bIns="0" rtlCol="0" anchor="t"/>
          <a:lstStyle/>
          <a:p>
            <a:pPr indent="0" marL="0">
              <a:buNone/>
            </a:pPr>
            <a:r>
              <a:rPr lang="en-US" sz="1900" b="1" dirty="0">
                <a:solidFill>
                  <a:schemeClr val="accent5"/>
                </a:solidFill>
                <a:latin typeface="Arial" pitchFamily="34" charset="0"/>
                <a:ea typeface="Arial" pitchFamily="34" charset="-122"/>
                <a:cs typeface="Arial" pitchFamily="34" charset="-120"/>
              </a:rPr>
              <a:t>Practical assessment</a:t>
            </a:r>
            <a:endParaRPr lang="en-US" sz="1900" dirty="0"/>
          </a:p>
        </p:txBody>
      </p:sp>
      <p:sp>
        <p:nvSpPr>
          <p:cNvPr id="20" name="Text 15"/>
          <p:cNvSpPr txBox="1"/>
          <p:nvPr/>
        </p:nvSpPr>
        <p:spPr>
          <a:xfrm>
            <a:off x="5760720" y="3429000"/>
            <a:ext cx="3657600" cy="274320"/>
          </a:xfrm>
          <a:prstGeom prst="rect">
            <a:avLst/>
          </a:prstGeom>
          <a:noFill/>
          <a:ln/>
        </p:spPr>
        <p:txBody>
          <a:bodyPr wrap="square" lIns="0" tIns="0" rIns="0" bIns="0" rtlCol="0" anchor="t"/>
          <a:lstStyle/>
          <a:p>
            <a:pPr indent="0" marL="0">
              <a:buNone/>
            </a:pPr>
            <a:r>
              <a:rPr lang="en-US" sz="1200" spc="300" kern="0" dirty="0">
                <a:solidFill>
                  <a:schemeClr val="accent2"/>
                </a:solidFill>
                <a:latin typeface="Consolas" pitchFamily="34" charset="0"/>
                <a:ea typeface="Consolas" pitchFamily="34" charset="-122"/>
                <a:cs typeface="Consolas" pitchFamily="34" charset="-120"/>
              </a:rPr>
              <a:t>DEMONSTRATED SKILLS</a:t>
            </a:r>
            <a:endParaRPr lang="en-US" sz="1200" dirty="0"/>
          </a:p>
        </p:txBody>
      </p:sp>
      <p:sp>
        <p:nvSpPr>
          <p:cNvPr id="21" name="Shape 16"/>
          <p:cNvSpPr/>
          <p:nvPr/>
        </p:nvSpPr>
        <p:spPr>
          <a:xfrm>
            <a:off x="5760720" y="3840480"/>
            <a:ext cx="1737360" cy="502920"/>
          </a:xfrm>
          <a:prstGeom prst="roundRect">
            <a:avLst>
              <a:gd name="adj" fmla="val 50000"/>
            </a:avLst>
          </a:prstGeom>
          <a:solidFill>
            <a:schemeClr val="tx1"/>
          </a:solidFill>
          <a:ln/>
        </p:spPr>
      </p:sp>
      <p:sp>
        <p:nvSpPr>
          <p:cNvPr id="22" name="Text 17"/>
          <p:cNvSpPr txBox="1"/>
          <p:nvPr/>
        </p:nvSpPr>
        <p:spPr>
          <a:xfrm>
            <a:off x="5760720" y="3840480"/>
            <a:ext cx="1737360" cy="502920"/>
          </a:xfrm>
          <a:prstGeom prst="rect">
            <a:avLst/>
          </a:prstGeom>
          <a:noFill/>
          <a:ln/>
        </p:spPr>
        <p:txBody>
          <a:bodyPr wrap="square" lIns="0" tIns="0" rIns="0" bIns="0" rtlCol="0" anchor="ctr"/>
          <a:lstStyle/>
          <a:p>
            <a:pPr algn="ctr" indent="0" marL="0">
              <a:buNone/>
            </a:pPr>
            <a:r>
              <a:rPr lang="en-US" sz="1600" dirty="0">
                <a:solidFill>
                  <a:schemeClr val="bg1"/>
                </a:solidFill>
                <a:latin typeface="Arial" pitchFamily="34" charset="0"/>
                <a:ea typeface="Arial" pitchFamily="34" charset="-122"/>
                <a:cs typeface="Arial" pitchFamily="34" charset="-120"/>
              </a:rPr>
              <a:t>Tests passed</a:t>
            </a:r>
            <a:endParaRPr lang="en-US" sz="1600" dirty="0"/>
          </a:p>
        </p:txBody>
      </p:sp>
      <p:sp>
        <p:nvSpPr>
          <p:cNvPr id="23" name="Shape 18"/>
          <p:cNvSpPr/>
          <p:nvPr/>
        </p:nvSpPr>
        <p:spPr>
          <a:xfrm>
            <a:off x="7680960" y="3840480"/>
            <a:ext cx="1737360" cy="502920"/>
          </a:xfrm>
          <a:prstGeom prst="roundRect">
            <a:avLst>
              <a:gd name="adj" fmla="val 50000"/>
            </a:avLst>
          </a:prstGeom>
          <a:solidFill>
            <a:schemeClr val="tx1"/>
          </a:solidFill>
          <a:ln/>
        </p:spPr>
      </p:sp>
      <p:sp>
        <p:nvSpPr>
          <p:cNvPr id="24" name="Text 19"/>
          <p:cNvSpPr txBox="1"/>
          <p:nvPr/>
        </p:nvSpPr>
        <p:spPr>
          <a:xfrm>
            <a:off x="7680960" y="3840480"/>
            <a:ext cx="1737360" cy="502920"/>
          </a:xfrm>
          <a:prstGeom prst="rect">
            <a:avLst/>
          </a:prstGeom>
          <a:noFill/>
          <a:ln/>
        </p:spPr>
        <p:txBody>
          <a:bodyPr wrap="square" lIns="0" tIns="0" rIns="0" bIns="0" rtlCol="0" anchor="ctr"/>
          <a:lstStyle/>
          <a:p>
            <a:pPr algn="ctr" indent="0" marL="0">
              <a:buNone/>
            </a:pPr>
            <a:r>
              <a:rPr lang="en-US" sz="1600" dirty="0">
                <a:solidFill>
                  <a:schemeClr val="bg1"/>
                </a:solidFill>
                <a:latin typeface="Arial" pitchFamily="34" charset="0"/>
                <a:ea typeface="Arial" pitchFamily="34" charset="-122"/>
                <a:cs typeface="Arial" pitchFamily="34" charset="-120"/>
              </a:rPr>
              <a:t>Time taken</a:t>
            </a:r>
            <a:endParaRPr lang="en-US" sz="1600" dirty="0"/>
          </a:p>
        </p:txBody>
      </p:sp>
      <p:sp>
        <p:nvSpPr>
          <p:cNvPr id="25" name="Shape 20"/>
          <p:cNvSpPr/>
          <p:nvPr/>
        </p:nvSpPr>
        <p:spPr>
          <a:xfrm>
            <a:off x="9601200" y="3840480"/>
            <a:ext cx="1737360" cy="502920"/>
          </a:xfrm>
          <a:prstGeom prst="roundRect">
            <a:avLst>
              <a:gd name="adj" fmla="val 50000"/>
            </a:avLst>
          </a:prstGeom>
          <a:solidFill>
            <a:schemeClr val="tx1"/>
          </a:solidFill>
          <a:ln/>
        </p:spPr>
      </p:sp>
      <p:sp>
        <p:nvSpPr>
          <p:cNvPr id="26" name="Text 21"/>
          <p:cNvSpPr txBox="1"/>
          <p:nvPr/>
        </p:nvSpPr>
        <p:spPr>
          <a:xfrm>
            <a:off x="9601200" y="3840480"/>
            <a:ext cx="1737360" cy="502920"/>
          </a:xfrm>
          <a:prstGeom prst="rect">
            <a:avLst/>
          </a:prstGeom>
          <a:noFill/>
          <a:ln/>
        </p:spPr>
        <p:txBody>
          <a:bodyPr wrap="square" lIns="0" tIns="0" rIns="0" bIns="0" rtlCol="0" anchor="ctr"/>
          <a:lstStyle/>
          <a:p>
            <a:pPr algn="ctr" indent="0" marL="0">
              <a:buNone/>
            </a:pPr>
            <a:r>
              <a:rPr lang="en-US" sz="1600" dirty="0">
                <a:solidFill>
                  <a:schemeClr val="bg1"/>
                </a:solidFill>
                <a:latin typeface="Arial" pitchFamily="34" charset="0"/>
                <a:ea typeface="Arial" pitchFamily="34" charset="-122"/>
                <a:cs typeface="Arial" pitchFamily="34" charset="-120"/>
              </a:rPr>
              <a:t>AI use</a:t>
            </a:r>
            <a:endParaRPr lang="en-US" sz="1600" dirty="0"/>
          </a:p>
        </p:txBody>
      </p:sp>
      <p:sp>
        <p:nvSpPr>
          <p:cNvPr id="27" name="Text 22"/>
          <p:cNvSpPr txBox="1"/>
          <p:nvPr/>
        </p:nvSpPr>
        <p:spPr>
          <a:xfrm>
            <a:off x="5760720" y="4892040"/>
            <a:ext cx="3931920" cy="7772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TorqueCode assesses skills consistent with a portfolio. It does not prove who wrote the projects.</a:t>
            </a:r>
            <a:endParaRPr lang="en-US" sz="1400" dirty="0"/>
          </a:p>
        </p:txBody>
      </p:sp>
      <p:pic>
        <p:nvPicPr>
          <p:cNvPr id="28" name="Image 3" descr="preencoded.png">    </p:cNvPr>
          <p:cNvPicPr>
            <a:picLocks noChangeAspect="1"/>
          </p:cNvPicPr>
          <p:nvPr/>
        </p:nvPicPr>
        <p:blipFill>
          <a:blip r:embed="rId4"/>
          <a:stretch>
            <a:fillRect/>
          </a:stretch>
        </p:blipFill>
        <p:spPr>
          <a:xfrm>
            <a:off x="9445752" y="4114800"/>
            <a:ext cx="2743200" cy="2743200"/>
          </a:xfrm>
          <a:prstGeom prst="rect">
            <a:avLst/>
          </a:prstGeom>
        </p:spPr>
      </p:pic>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bg1"/>
                </a:solidFill>
              </a:rPr>
              <a:t>One session</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accent3"/>
                </a:solidFill>
              </a:rPr>
              <a:t>Practical questions, bounded by the portfolio</a:t>
            </a:r>
            <a:endParaRPr lang="en-US" sz="1700" dirty="0"/>
          </a:p>
        </p:txBody>
      </p:sp>
      <p:pic>
        <p:nvPicPr>
          <p:cNvPr id="4" name="Image 0" descr="preencoded.png">    </p:cNvPr>
          <p:cNvPicPr>
            <a:picLocks noChangeAspect="1"/>
          </p:cNvPicPr>
          <p:nvPr/>
        </p:nvPicPr>
        <p:blipFill>
          <a:blip r:embed="rId1"/>
          <a:stretch>
            <a:fillRect/>
          </a:stretch>
        </p:blipFill>
        <p:spPr>
          <a:xfrm>
            <a:off x="8988552" y="0"/>
            <a:ext cx="3200400" cy="3200400"/>
          </a:xfrm>
          <a:prstGeom prst="rect">
            <a:avLst/>
          </a:prstGeom>
        </p:spPr>
      </p:pic>
      <p:pic>
        <p:nvPicPr>
          <p:cNvPr id="5" name="Image 1" descr="preencoded.png">    </p:cNvPr>
          <p:cNvPicPr>
            <a:picLocks noChangeAspect="1"/>
          </p:cNvPicPr>
          <p:nvPr/>
        </p:nvPicPr>
        <p:blipFill>
          <a:blip r:embed="rId2"/>
          <a:stretch>
            <a:fillRect/>
          </a:stretch>
        </p:blipFill>
        <p:spPr>
          <a:xfrm>
            <a:off x="685800" y="1892808"/>
            <a:ext cx="384048" cy="384048"/>
          </a:xfrm>
          <a:prstGeom prst="rect">
            <a:avLst/>
          </a:prstGeom>
        </p:spPr>
      </p:pic>
      <p:sp>
        <p:nvSpPr>
          <p:cNvPr id="6" name="Text 2"/>
          <p:cNvSpPr txBox="1"/>
          <p:nvPr/>
        </p:nvSpPr>
        <p:spPr>
          <a:xfrm>
            <a:off x="1280160" y="1874520"/>
            <a:ext cx="4206240" cy="68580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One 60-minute timer</a:t>
            </a:r>
            <a:endParaRPr lang="en-US" sz="1800" dirty="0"/>
          </a:p>
        </p:txBody>
      </p:sp>
      <p:pic>
        <p:nvPicPr>
          <p:cNvPr id="7" name="Image 2" descr="preencoded.png">    </p:cNvPr>
          <p:cNvPicPr>
            <a:picLocks noChangeAspect="1"/>
          </p:cNvPicPr>
          <p:nvPr/>
        </p:nvPicPr>
        <p:blipFill>
          <a:blip r:embed="rId3"/>
          <a:stretch>
            <a:fillRect/>
          </a:stretch>
        </p:blipFill>
        <p:spPr>
          <a:xfrm>
            <a:off x="685800" y="2670048"/>
            <a:ext cx="384048" cy="384048"/>
          </a:xfrm>
          <a:prstGeom prst="rect">
            <a:avLst/>
          </a:prstGeom>
        </p:spPr>
      </p:pic>
      <p:sp>
        <p:nvSpPr>
          <p:cNvPr id="8" name="Text 3"/>
          <p:cNvSpPr txBox="1"/>
          <p:nvPr/>
        </p:nvSpPr>
        <p:spPr>
          <a:xfrm>
            <a:off x="1280160" y="2651760"/>
            <a:ext cx="4206240" cy="68580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Questions stay within claimed DSA topics</a:t>
            </a:r>
            <a:endParaRPr lang="en-US" sz="1800" dirty="0"/>
          </a:p>
        </p:txBody>
      </p:sp>
      <p:pic>
        <p:nvPicPr>
          <p:cNvPr id="9" name="Image 3" descr="preencoded.png">    </p:cNvPr>
          <p:cNvPicPr>
            <a:picLocks noChangeAspect="1"/>
          </p:cNvPicPr>
          <p:nvPr/>
        </p:nvPicPr>
        <p:blipFill>
          <a:blip r:embed="rId4"/>
          <a:stretch>
            <a:fillRect/>
          </a:stretch>
        </p:blipFill>
        <p:spPr>
          <a:xfrm>
            <a:off x="685800" y="3447288"/>
            <a:ext cx="384048" cy="384048"/>
          </a:xfrm>
          <a:prstGeom prst="rect">
            <a:avLst/>
          </a:prstGeom>
        </p:spPr>
      </p:pic>
      <p:sp>
        <p:nvSpPr>
          <p:cNvPr id="10" name="Text 4"/>
          <p:cNvSpPr txBox="1"/>
          <p:nvPr/>
        </p:nvSpPr>
        <p:spPr>
          <a:xfrm>
            <a:off x="1280160" y="3429000"/>
            <a:ext cx="4206240" cy="68580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Submit every current question to unlock more — correct or not</a:t>
            </a:r>
            <a:endParaRPr lang="en-US" sz="1800" dirty="0"/>
          </a:p>
        </p:txBody>
      </p:sp>
      <p:sp>
        <p:nvSpPr>
          <p:cNvPr id="11" name="Shape 5"/>
          <p:cNvSpPr/>
          <p:nvPr/>
        </p:nvSpPr>
        <p:spPr>
          <a:xfrm>
            <a:off x="6007608" y="1755648"/>
            <a:ext cx="1426464" cy="1426464"/>
          </a:xfrm>
          <a:prstGeom prst="ellipse">
            <a:avLst/>
          </a:prstGeom>
          <a:ln w="12700">
            <a:solidFill>
              <a:schemeClr val="accent2"/>
            </a:solidFill>
            <a:prstDash val="dash"/>
          </a:ln>
        </p:spPr>
      </p:sp>
      <p:sp>
        <p:nvSpPr>
          <p:cNvPr id="12" name="Shape 6"/>
          <p:cNvSpPr/>
          <p:nvPr/>
        </p:nvSpPr>
        <p:spPr>
          <a:xfrm>
            <a:off x="6172200" y="1920240"/>
            <a:ext cx="1097280" cy="1097280"/>
          </a:xfrm>
          <a:prstGeom prst="ellipse">
            <a:avLst/>
          </a:prstGeom>
          <a:solidFill>
            <a:schemeClr val="accent1"/>
          </a:solidFill>
          <a:ln/>
        </p:spPr>
      </p:sp>
      <p:pic>
        <p:nvPicPr>
          <p:cNvPr id="13" name="Image 4" descr="preencoded.png">    </p:cNvPr>
          <p:cNvPicPr>
            <a:picLocks noChangeAspect="1"/>
          </p:cNvPicPr>
          <p:nvPr/>
        </p:nvPicPr>
        <p:blipFill>
          <a:blip r:embed="rId5"/>
          <a:stretch>
            <a:fillRect/>
          </a:stretch>
        </p:blipFill>
        <p:spPr>
          <a:xfrm>
            <a:off x="6468466" y="2216506"/>
            <a:ext cx="504749" cy="504749"/>
          </a:xfrm>
          <a:prstGeom prst="rect">
            <a:avLst/>
          </a:prstGeom>
        </p:spPr>
      </p:pic>
      <p:sp>
        <p:nvSpPr>
          <p:cNvPr id="14" name="Text 7"/>
          <p:cNvSpPr txBox="1"/>
          <p:nvPr/>
        </p:nvSpPr>
        <p:spPr>
          <a:xfrm>
            <a:off x="5989320" y="3291840"/>
            <a:ext cx="1463040" cy="365760"/>
          </a:xfrm>
          <a:prstGeom prst="rect">
            <a:avLst/>
          </a:prstGeom>
          <a:noFill/>
          <a:ln/>
        </p:spPr>
        <p:txBody>
          <a:bodyPr wrap="square" lIns="0" tIns="0" rIns="0" bIns="0" rtlCol="0" anchor="t"/>
          <a:lstStyle/>
          <a:p>
            <a:pPr algn="ctr" indent="0" marL="0">
              <a:buNone/>
            </a:pPr>
            <a:r>
              <a:rPr lang="en-US" sz="1700" b="1" dirty="0">
                <a:solidFill>
                  <a:schemeClr val="bg1"/>
                </a:solidFill>
                <a:latin typeface="Arial" pitchFamily="34" charset="0"/>
                <a:ea typeface="Arial" pitchFamily="34" charset="-122"/>
                <a:cs typeface="Arial" pitchFamily="34" charset="-120"/>
              </a:rPr>
              <a:t>Set 1</a:t>
            </a:r>
            <a:endParaRPr lang="en-US" sz="1700" dirty="0"/>
          </a:p>
        </p:txBody>
      </p:sp>
      <p:sp>
        <p:nvSpPr>
          <p:cNvPr id="15" name="Shape 8"/>
          <p:cNvSpPr/>
          <p:nvPr/>
        </p:nvSpPr>
        <p:spPr>
          <a:xfrm>
            <a:off x="7525512" y="2468880"/>
            <a:ext cx="457200" cy="0"/>
          </a:xfrm>
          <a:prstGeom prst="line">
            <a:avLst/>
          </a:prstGeom>
          <a:noFill/>
          <a:ln w="25400">
            <a:solidFill>
              <a:schemeClr val="accent1"/>
            </a:solidFill>
            <a:prstDash val="solid"/>
            <a:tailEnd type="triangle"/>
          </a:ln>
        </p:spPr>
      </p:sp>
      <p:sp>
        <p:nvSpPr>
          <p:cNvPr id="16" name="Text 9"/>
          <p:cNvSpPr txBox="1"/>
          <p:nvPr/>
        </p:nvSpPr>
        <p:spPr>
          <a:xfrm>
            <a:off x="7342632" y="2103120"/>
            <a:ext cx="822960" cy="274320"/>
          </a:xfrm>
          <a:prstGeom prst="rect">
            <a:avLst/>
          </a:prstGeom>
          <a:noFill/>
          <a:ln/>
        </p:spPr>
        <p:txBody>
          <a:bodyPr wrap="square" lIns="0" tIns="0" rIns="0" bIns="0" rtlCol="0" anchor="t"/>
          <a:lstStyle/>
          <a:p>
            <a:pPr algn="ctr" indent="0" marL="0">
              <a:buNone/>
            </a:pPr>
            <a:r>
              <a:rPr lang="en-US" sz="1100" dirty="0">
                <a:solidFill>
                  <a:schemeClr val="accent1"/>
                </a:solidFill>
                <a:latin typeface="Consolas" pitchFamily="34" charset="0"/>
                <a:ea typeface="Consolas" pitchFamily="34" charset="-122"/>
                <a:cs typeface="Consolas" pitchFamily="34" charset="-120"/>
              </a:rPr>
              <a:t>unlock</a:t>
            </a:r>
            <a:endParaRPr lang="en-US" sz="1100" dirty="0"/>
          </a:p>
        </p:txBody>
      </p:sp>
      <p:sp>
        <p:nvSpPr>
          <p:cNvPr id="17" name="Shape 10"/>
          <p:cNvSpPr/>
          <p:nvPr/>
        </p:nvSpPr>
        <p:spPr>
          <a:xfrm>
            <a:off x="8065008" y="1755648"/>
            <a:ext cx="1426464" cy="1426464"/>
          </a:xfrm>
          <a:prstGeom prst="ellipse">
            <a:avLst/>
          </a:prstGeom>
          <a:ln w="12700">
            <a:solidFill>
              <a:schemeClr val="accent2"/>
            </a:solidFill>
            <a:prstDash val="dash"/>
          </a:ln>
        </p:spPr>
      </p:sp>
      <p:sp>
        <p:nvSpPr>
          <p:cNvPr id="18" name="Shape 11"/>
          <p:cNvSpPr/>
          <p:nvPr/>
        </p:nvSpPr>
        <p:spPr>
          <a:xfrm>
            <a:off x="8229600" y="1920240"/>
            <a:ext cx="1097280" cy="1097280"/>
          </a:xfrm>
          <a:prstGeom prst="ellipse">
            <a:avLst/>
          </a:prstGeom>
          <a:solidFill>
            <a:schemeClr val="bg1"/>
          </a:solidFill>
          <a:ln/>
        </p:spPr>
      </p:sp>
      <p:pic>
        <p:nvPicPr>
          <p:cNvPr id="19" name="Image 5" descr="preencoded.png">    </p:cNvPr>
          <p:cNvPicPr>
            <a:picLocks noChangeAspect="1"/>
          </p:cNvPicPr>
          <p:nvPr/>
        </p:nvPicPr>
        <p:blipFill>
          <a:blip r:embed="rId6"/>
          <a:stretch>
            <a:fillRect/>
          </a:stretch>
        </p:blipFill>
        <p:spPr>
          <a:xfrm>
            <a:off x="8525866" y="2216506"/>
            <a:ext cx="504749" cy="504749"/>
          </a:xfrm>
          <a:prstGeom prst="rect">
            <a:avLst/>
          </a:prstGeom>
        </p:spPr>
      </p:pic>
      <p:sp>
        <p:nvSpPr>
          <p:cNvPr id="20" name="Text 12"/>
          <p:cNvSpPr txBox="1"/>
          <p:nvPr/>
        </p:nvSpPr>
        <p:spPr>
          <a:xfrm>
            <a:off x="8046720" y="3291840"/>
            <a:ext cx="1463040" cy="365760"/>
          </a:xfrm>
          <a:prstGeom prst="rect">
            <a:avLst/>
          </a:prstGeom>
          <a:noFill/>
          <a:ln/>
        </p:spPr>
        <p:txBody>
          <a:bodyPr wrap="square" lIns="0" tIns="0" rIns="0" bIns="0" rtlCol="0" anchor="t"/>
          <a:lstStyle/>
          <a:p>
            <a:pPr algn="ctr" indent="0" marL="0">
              <a:buNone/>
            </a:pPr>
            <a:r>
              <a:rPr lang="en-US" sz="1700" b="1" dirty="0">
                <a:solidFill>
                  <a:schemeClr val="bg1"/>
                </a:solidFill>
                <a:latin typeface="Arial" pitchFamily="34" charset="0"/>
                <a:ea typeface="Arial" pitchFamily="34" charset="-122"/>
                <a:cs typeface="Arial" pitchFamily="34" charset="-120"/>
              </a:rPr>
              <a:t>Set 2</a:t>
            </a:r>
            <a:endParaRPr lang="en-US" sz="1700" dirty="0"/>
          </a:p>
        </p:txBody>
      </p:sp>
      <p:sp>
        <p:nvSpPr>
          <p:cNvPr id="21" name="Shape 13"/>
          <p:cNvSpPr/>
          <p:nvPr/>
        </p:nvSpPr>
        <p:spPr>
          <a:xfrm>
            <a:off x="9582912" y="2468880"/>
            <a:ext cx="457200" cy="0"/>
          </a:xfrm>
          <a:prstGeom prst="line">
            <a:avLst/>
          </a:prstGeom>
          <a:noFill/>
          <a:ln w="25400">
            <a:solidFill>
              <a:schemeClr val="accent1"/>
            </a:solidFill>
            <a:prstDash val="solid"/>
            <a:tailEnd type="triangle"/>
          </a:ln>
        </p:spPr>
      </p:sp>
      <p:sp>
        <p:nvSpPr>
          <p:cNvPr id="22" name="Text 14"/>
          <p:cNvSpPr txBox="1"/>
          <p:nvPr/>
        </p:nvSpPr>
        <p:spPr>
          <a:xfrm>
            <a:off x="9400032" y="2103120"/>
            <a:ext cx="822960" cy="274320"/>
          </a:xfrm>
          <a:prstGeom prst="rect">
            <a:avLst/>
          </a:prstGeom>
          <a:noFill/>
          <a:ln/>
        </p:spPr>
        <p:txBody>
          <a:bodyPr wrap="square" lIns="0" tIns="0" rIns="0" bIns="0" rtlCol="0" anchor="t"/>
          <a:lstStyle/>
          <a:p>
            <a:pPr algn="ctr" indent="0" marL="0">
              <a:buNone/>
            </a:pPr>
            <a:r>
              <a:rPr lang="en-US" sz="1100" dirty="0">
                <a:solidFill>
                  <a:schemeClr val="accent1"/>
                </a:solidFill>
                <a:latin typeface="Consolas" pitchFamily="34" charset="0"/>
                <a:ea typeface="Consolas" pitchFamily="34" charset="-122"/>
                <a:cs typeface="Consolas" pitchFamily="34" charset="-120"/>
              </a:rPr>
              <a:t>unlock</a:t>
            </a:r>
            <a:endParaRPr lang="en-US" sz="1100" dirty="0"/>
          </a:p>
        </p:txBody>
      </p:sp>
      <p:sp>
        <p:nvSpPr>
          <p:cNvPr id="23" name="Shape 15"/>
          <p:cNvSpPr/>
          <p:nvPr/>
        </p:nvSpPr>
        <p:spPr>
          <a:xfrm>
            <a:off x="10122408" y="1755648"/>
            <a:ext cx="1426464" cy="1426464"/>
          </a:xfrm>
          <a:prstGeom prst="ellipse">
            <a:avLst/>
          </a:prstGeom>
          <a:ln w="12700">
            <a:solidFill>
              <a:schemeClr val="accent2"/>
            </a:solidFill>
            <a:prstDash val="dash"/>
          </a:ln>
        </p:spPr>
      </p:sp>
      <p:sp>
        <p:nvSpPr>
          <p:cNvPr id="24" name="Shape 16"/>
          <p:cNvSpPr/>
          <p:nvPr/>
        </p:nvSpPr>
        <p:spPr>
          <a:xfrm>
            <a:off x="10287000" y="1920240"/>
            <a:ext cx="1097280" cy="1097280"/>
          </a:xfrm>
          <a:prstGeom prst="ellipse">
            <a:avLst/>
          </a:prstGeom>
          <a:solidFill>
            <a:schemeClr val="bg1"/>
          </a:solidFill>
          <a:ln/>
        </p:spPr>
      </p:sp>
      <p:pic>
        <p:nvPicPr>
          <p:cNvPr id="25" name="Image 6" descr="preencoded.png">    </p:cNvPr>
          <p:cNvPicPr>
            <a:picLocks noChangeAspect="1"/>
          </p:cNvPicPr>
          <p:nvPr/>
        </p:nvPicPr>
        <p:blipFill>
          <a:blip r:embed="rId7"/>
          <a:stretch>
            <a:fillRect/>
          </a:stretch>
        </p:blipFill>
        <p:spPr>
          <a:xfrm>
            <a:off x="10583266" y="2216506"/>
            <a:ext cx="504749" cy="504749"/>
          </a:xfrm>
          <a:prstGeom prst="rect">
            <a:avLst/>
          </a:prstGeom>
        </p:spPr>
      </p:pic>
      <p:sp>
        <p:nvSpPr>
          <p:cNvPr id="26" name="Text 17"/>
          <p:cNvSpPr txBox="1"/>
          <p:nvPr/>
        </p:nvSpPr>
        <p:spPr>
          <a:xfrm>
            <a:off x="10104120" y="3291840"/>
            <a:ext cx="1463040" cy="365760"/>
          </a:xfrm>
          <a:prstGeom prst="rect">
            <a:avLst/>
          </a:prstGeom>
          <a:noFill/>
          <a:ln/>
        </p:spPr>
        <p:txBody>
          <a:bodyPr wrap="square" lIns="0" tIns="0" rIns="0" bIns="0" rtlCol="0" anchor="t"/>
          <a:lstStyle/>
          <a:p>
            <a:pPr algn="ctr" indent="0" marL="0">
              <a:buNone/>
            </a:pPr>
            <a:r>
              <a:rPr lang="en-US" sz="1700" b="1" dirty="0">
                <a:solidFill>
                  <a:schemeClr val="bg1"/>
                </a:solidFill>
                <a:latin typeface="Arial" pitchFamily="34" charset="0"/>
                <a:ea typeface="Arial" pitchFamily="34" charset="-122"/>
                <a:cs typeface="Arial" pitchFamily="34" charset="-120"/>
              </a:rPr>
              <a:t>Set 3</a:t>
            </a:r>
            <a:endParaRPr lang="en-US" sz="1700" dirty="0"/>
          </a:p>
        </p:txBody>
      </p:sp>
      <p:sp>
        <p:nvSpPr>
          <p:cNvPr id="27" name="Text 18"/>
          <p:cNvSpPr txBox="1"/>
          <p:nvPr/>
        </p:nvSpPr>
        <p:spPr>
          <a:xfrm>
            <a:off x="5989320" y="3794760"/>
            <a:ext cx="5486400" cy="54864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Max 2 unlocks · earlier questions stay open · level names hidden during the test</a:t>
            </a:r>
            <a:endParaRPr lang="en-US" sz="1400" dirty="0"/>
          </a:p>
        </p:txBody>
      </p:sp>
      <p:sp>
        <p:nvSpPr>
          <p:cNvPr id="28" name="Portfolio + onboarding"/>
          <p:cNvSpPr/>
          <p:nvPr/>
        </p:nvSpPr>
        <p:spPr>
          <a:xfrm>
            <a:off x="685800" y="4709160"/>
            <a:ext cx="3703320" cy="1051560"/>
          </a:xfrm>
          <a:prstGeom prst="homePlate">
            <a:avLst/>
          </a:prstGeom>
          <a:solidFill>
            <a:schemeClr val="accent4"/>
          </a:solidFill>
          <a:ln/>
        </p:spPr>
      </p:sp>
      <p:sp>
        <p:nvSpPr>
          <p:cNvPr id="29" name="Text 20"/>
          <p:cNvSpPr txBox="1"/>
          <p:nvPr/>
        </p:nvSpPr>
        <p:spPr>
          <a:xfrm>
            <a:off x="1005840" y="4910328"/>
            <a:ext cx="2651760" cy="365760"/>
          </a:xfrm>
          <a:prstGeom prst="rect">
            <a:avLst/>
          </a:prstGeom>
          <a:noFill/>
          <a:ln/>
        </p:spPr>
        <p:txBody>
          <a:bodyPr wrap="square" lIns="0" tIns="0" rIns="0" bIns="0" rtlCol="0" anchor="t"/>
          <a:lstStyle/>
          <a:p>
            <a:pPr indent="0" marL="0">
              <a:buNone/>
            </a:pPr>
            <a:r>
              <a:rPr lang="en-US" sz="1700" b="1" dirty="0">
                <a:solidFill>
                  <a:schemeClr val="bg1"/>
                </a:solidFill>
                <a:latin typeface="Arial" pitchFamily="34" charset="0"/>
                <a:ea typeface="Arial" pitchFamily="34" charset="-122"/>
                <a:cs typeface="Arial" pitchFamily="34" charset="-120"/>
              </a:rPr>
              <a:t>Portfolio + onboarding</a:t>
            </a:r>
            <a:endParaRPr lang="en-US" sz="1700" dirty="0"/>
          </a:p>
        </p:txBody>
      </p:sp>
      <p:sp>
        <p:nvSpPr>
          <p:cNvPr id="30" name="Text 21"/>
          <p:cNvSpPr txBox="1"/>
          <p:nvPr/>
        </p:nvSpPr>
        <p:spPr>
          <a:xfrm>
            <a:off x="1005840" y="5303520"/>
            <a:ext cx="2651760" cy="274320"/>
          </a:xfrm>
          <a:prstGeom prst="rect">
            <a:avLst/>
          </a:prstGeom>
          <a:noFill/>
          <a:ln/>
        </p:spPr>
        <p:txBody>
          <a:bodyPr wrap="square" lIns="0" tIns="0" rIns="0" bIns="0" rtlCol="0" anchor="t"/>
          <a:lstStyle/>
          <a:p>
            <a:pPr indent="0" marL="0">
              <a:buNone/>
            </a:pPr>
            <a:r>
              <a:rPr lang="en-US" sz="1200" dirty="0">
                <a:solidFill>
                  <a:schemeClr val="accent3"/>
                </a:solidFill>
                <a:latin typeface="Consolas" pitchFamily="34" charset="0"/>
                <a:ea typeface="Consolas" pitchFamily="34" charset="-122"/>
                <a:cs typeface="Consolas" pitchFamily="34" charset="-120"/>
              </a:rPr>
              <a:t>JSON · schema check · quiz</a:t>
            </a:r>
            <a:endParaRPr lang="en-US" sz="1200" dirty="0"/>
          </a:p>
        </p:txBody>
      </p:sp>
      <p:sp>
        <p:nvSpPr>
          <p:cNvPr id="31" name="Practical assessment"/>
          <p:cNvSpPr/>
          <p:nvPr/>
        </p:nvSpPr>
        <p:spPr>
          <a:xfrm>
            <a:off x="4279392" y="4709160"/>
            <a:ext cx="3703320" cy="1051560"/>
          </a:xfrm>
          <a:prstGeom prst="chevron">
            <a:avLst/>
          </a:prstGeom>
          <a:solidFill>
            <a:schemeClr val="accent1"/>
          </a:solidFill>
          <a:ln/>
        </p:spPr>
      </p:sp>
      <p:sp>
        <p:nvSpPr>
          <p:cNvPr id="32" name="Text 23"/>
          <p:cNvSpPr txBox="1"/>
          <p:nvPr/>
        </p:nvSpPr>
        <p:spPr>
          <a:xfrm>
            <a:off x="4965192" y="4910328"/>
            <a:ext cx="2651760" cy="36576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Practical assessment</a:t>
            </a:r>
            <a:endParaRPr lang="en-US" sz="1700" dirty="0"/>
          </a:p>
        </p:txBody>
      </p:sp>
      <p:sp>
        <p:nvSpPr>
          <p:cNvPr id="33" name="Text 24"/>
          <p:cNvSpPr txBox="1"/>
          <p:nvPr/>
        </p:nvSpPr>
        <p:spPr>
          <a:xfrm>
            <a:off x="4965192" y="5303520"/>
            <a:ext cx="2651760" cy="27432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fix · extend · run tests</a:t>
            </a:r>
            <a:endParaRPr lang="en-US" sz="1200" dirty="0"/>
          </a:p>
        </p:txBody>
      </p:sp>
      <p:sp>
        <p:nvSpPr>
          <p:cNvPr id="34" name="Performance report"/>
          <p:cNvSpPr/>
          <p:nvPr/>
        </p:nvSpPr>
        <p:spPr>
          <a:xfrm>
            <a:off x="7872984" y="4709160"/>
            <a:ext cx="3703320" cy="1051560"/>
          </a:xfrm>
          <a:prstGeom prst="chevron">
            <a:avLst/>
          </a:prstGeom>
          <a:solidFill>
            <a:schemeClr val="accent4"/>
          </a:solidFill>
          <a:ln/>
        </p:spPr>
      </p:sp>
      <p:sp>
        <p:nvSpPr>
          <p:cNvPr id="35" name="Text 26"/>
          <p:cNvSpPr txBox="1"/>
          <p:nvPr/>
        </p:nvSpPr>
        <p:spPr>
          <a:xfrm>
            <a:off x="8558784" y="4910328"/>
            <a:ext cx="2651760" cy="365760"/>
          </a:xfrm>
          <a:prstGeom prst="rect">
            <a:avLst/>
          </a:prstGeom>
          <a:noFill/>
          <a:ln/>
        </p:spPr>
        <p:txBody>
          <a:bodyPr wrap="square" lIns="0" tIns="0" rIns="0" bIns="0" rtlCol="0" anchor="t"/>
          <a:lstStyle/>
          <a:p>
            <a:pPr indent="0" marL="0">
              <a:buNone/>
            </a:pPr>
            <a:r>
              <a:rPr lang="en-US" sz="1700" b="1" dirty="0">
                <a:solidFill>
                  <a:schemeClr val="bg1"/>
                </a:solidFill>
                <a:latin typeface="Arial" pitchFamily="34" charset="0"/>
                <a:ea typeface="Arial" pitchFamily="34" charset="-122"/>
                <a:cs typeface="Arial" pitchFamily="34" charset="-120"/>
              </a:rPr>
              <a:t>Performance report</a:t>
            </a:r>
            <a:endParaRPr lang="en-US" sz="1700" dirty="0"/>
          </a:p>
        </p:txBody>
      </p:sp>
      <p:sp>
        <p:nvSpPr>
          <p:cNvPr id="36" name="Text 27"/>
          <p:cNvSpPr txBox="1"/>
          <p:nvPr/>
        </p:nvSpPr>
        <p:spPr>
          <a:xfrm>
            <a:off x="8558784" y="5303520"/>
            <a:ext cx="2651760" cy="274320"/>
          </a:xfrm>
          <a:prstGeom prst="rect">
            <a:avLst/>
          </a:prstGeom>
          <a:noFill/>
          <a:ln/>
        </p:spPr>
        <p:txBody>
          <a:bodyPr wrap="square" lIns="0" tIns="0" rIns="0" bIns="0" rtlCol="0" anchor="t"/>
          <a:lstStyle/>
          <a:p>
            <a:pPr indent="0" marL="0">
              <a:buNone/>
            </a:pPr>
            <a:r>
              <a:rPr lang="en-US" sz="1200" dirty="0">
                <a:solidFill>
                  <a:schemeClr val="accent3"/>
                </a:solidFill>
                <a:latin typeface="Consolas" pitchFamily="34" charset="0"/>
                <a:ea typeface="Consolas" pitchFamily="34" charset="-122"/>
                <a:cs typeface="Consolas" pitchFamily="34" charset="-120"/>
              </a:rPr>
              <a:t>pass rates · time · AI score</a:t>
            </a:r>
            <a:endParaRPr lang="en-US" sz="12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bg1"/>
                </a:solidFill>
              </a:rPr>
              <a:t>Demo walkthrough</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accent3"/>
                </a:solidFill>
              </a:rPr>
              <a:t>Sign in → run tests → read the report</a:t>
            </a:r>
            <a:endParaRPr lang="en-US" sz="1700" dirty="0"/>
          </a:p>
        </p:txBody>
      </p:sp>
      <p:sp>
        <p:nvSpPr>
          <p:cNvPr id="4" name="Shape 2"/>
          <p:cNvSpPr/>
          <p:nvPr/>
        </p:nvSpPr>
        <p:spPr>
          <a:xfrm>
            <a:off x="6675120" y="0"/>
            <a:ext cx="5516575" cy="6858000"/>
          </a:xfrm>
          <a:prstGeom prst="rect">
            <a:avLst/>
          </a:prstGeom>
          <a:solidFill>
            <a:schemeClr val="bg1"/>
          </a:solidFill>
          <a:ln/>
        </p:spPr>
      </p:sp>
      <p:sp>
        <p:nvSpPr>
          <p:cNvPr id="5" name="Shape 3"/>
          <p:cNvSpPr/>
          <p:nvPr/>
        </p:nvSpPr>
        <p:spPr>
          <a:xfrm>
            <a:off x="685800" y="1828800"/>
            <a:ext cx="502920" cy="502920"/>
          </a:xfrm>
          <a:prstGeom prst="ellipse">
            <a:avLst/>
          </a:prstGeom>
          <a:solidFill>
            <a:schemeClr val="bg1"/>
          </a:solidFill>
          <a:ln/>
        </p:spPr>
      </p:sp>
      <p:pic>
        <p:nvPicPr>
          <p:cNvPr id="6" name="Image 0" descr="preencoded.png">    </p:cNvPr>
          <p:cNvPicPr>
            <a:picLocks noChangeAspect="1"/>
          </p:cNvPicPr>
          <p:nvPr/>
        </p:nvPicPr>
        <p:blipFill>
          <a:blip r:embed="rId1"/>
          <a:stretch>
            <a:fillRect/>
          </a:stretch>
        </p:blipFill>
        <p:spPr>
          <a:xfrm>
            <a:off x="821588" y="1964588"/>
            <a:ext cx="231343" cy="231343"/>
          </a:xfrm>
          <a:prstGeom prst="rect">
            <a:avLst/>
          </a:prstGeom>
        </p:spPr>
      </p:pic>
      <p:sp>
        <p:nvSpPr>
          <p:cNvPr id="7" name="Text 4"/>
          <p:cNvSpPr txBox="1"/>
          <p:nvPr/>
        </p:nvSpPr>
        <p:spPr>
          <a:xfrm>
            <a:off x="1417320" y="1938528"/>
            <a:ext cx="457200" cy="274320"/>
          </a:xfrm>
          <a:prstGeom prst="rect">
            <a:avLst/>
          </a:prstGeom>
          <a:noFill/>
          <a:ln/>
        </p:spPr>
        <p:txBody>
          <a:bodyPr wrap="square" lIns="0" tIns="0" rIns="0" bIns="0" rtlCol="0" anchor="t"/>
          <a:lstStyle/>
          <a:p>
            <a:pPr indent="0" marL="0">
              <a:buNone/>
            </a:pPr>
            <a:r>
              <a:rPr lang="en-US" sz="1300" dirty="0">
                <a:solidFill>
                  <a:schemeClr val="accent2"/>
                </a:solidFill>
                <a:latin typeface="Consolas" pitchFamily="34" charset="0"/>
                <a:ea typeface="Consolas" pitchFamily="34" charset="-122"/>
                <a:cs typeface="Consolas" pitchFamily="34" charset="-120"/>
              </a:rPr>
              <a:t>01</a:t>
            </a:r>
            <a:endParaRPr lang="en-US" sz="1300" dirty="0"/>
          </a:p>
        </p:txBody>
      </p:sp>
      <p:sp>
        <p:nvSpPr>
          <p:cNvPr id="8" name="Text 5"/>
          <p:cNvSpPr txBox="1"/>
          <p:nvPr/>
        </p:nvSpPr>
        <p:spPr>
          <a:xfrm>
            <a:off x="1874520" y="1901952"/>
            <a:ext cx="3200400" cy="36576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Sign in + upload portfolio</a:t>
            </a:r>
            <a:endParaRPr lang="en-US" sz="1800" dirty="0"/>
          </a:p>
        </p:txBody>
      </p:sp>
      <p:sp>
        <p:nvSpPr>
          <p:cNvPr id="9" name="Shape 6"/>
          <p:cNvSpPr/>
          <p:nvPr/>
        </p:nvSpPr>
        <p:spPr>
          <a:xfrm>
            <a:off x="685800" y="2606040"/>
            <a:ext cx="502920" cy="5029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821588" y="2741828"/>
            <a:ext cx="231343" cy="231343"/>
          </a:xfrm>
          <a:prstGeom prst="rect">
            <a:avLst/>
          </a:prstGeom>
        </p:spPr>
      </p:pic>
      <p:sp>
        <p:nvSpPr>
          <p:cNvPr id="11" name="Text 7"/>
          <p:cNvSpPr txBox="1"/>
          <p:nvPr/>
        </p:nvSpPr>
        <p:spPr>
          <a:xfrm>
            <a:off x="1417320" y="2715768"/>
            <a:ext cx="457200" cy="274320"/>
          </a:xfrm>
          <a:prstGeom prst="rect">
            <a:avLst/>
          </a:prstGeom>
          <a:noFill/>
          <a:ln/>
        </p:spPr>
        <p:txBody>
          <a:bodyPr wrap="square" lIns="0" tIns="0" rIns="0" bIns="0" rtlCol="0" anchor="t"/>
          <a:lstStyle/>
          <a:p>
            <a:pPr indent="0" marL="0">
              <a:buNone/>
            </a:pPr>
            <a:r>
              <a:rPr lang="en-US" sz="1300" dirty="0">
                <a:solidFill>
                  <a:schemeClr val="accent2"/>
                </a:solidFill>
                <a:latin typeface="Consolas" pitchFamily="34" charset="0"/>
                <a:ea typeface="Consolas" pitchFamily="34" charset="-122"/>
                <a:cs typeface="Consolas" pitchFamily="34" charset="-120"/>
              </a:rPr>
              <a:t>02</a:t>
            </a:r>
            <a:endParaRPr lang="en-US" sz="1300" dirty="0"/>
          </a:p>
        </p:txBody>
      </p:sp>
      <p:sp>
        <p:nvSpPr>
          <p:cNvPr id="12" name="Text 8"/>
          <p:cNvSpPr txBox="1"/>
          <p:nvPr/>
        </p:nvSpPr>
        <p:spPr>
          <a:xfrm>
            <a:off x="1874520" y="2679192"/>
            <a:ext cx="3200400" cy="36576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Edit + run tests</a:t>
            </a:r>
            <a:endParaRPr lang="en-US" sz="1800" dirty="0"/>
          </a:p>
        </p:txBody>
      </p:sp>
      <p:sp>
        <p:nvSpPr>
          <p:cNvPr id="13" name="Shape 9"/>
          <p:cNvSpPr/>
          <p:nvPr/>
        </p:nvSpPr>
        <p:spPr>
          <a:xfrm>
            <a:off x="685800" y="3383280"/>
            <a:ext cx="502920" cy="502920"/>
          </a:xfrm>
          <a:prstGeom prst="ellipse">
            <a:avLst/>
          </a:prstGeom>
          <a:solidFill>
            <a:schemeClr val="bg1"/>
          </a:solidFill>
          <a:ln/>
        </p:spPr>
      </p:sp>
      <p:pic>
        <p:nvPicPr>
          <p:cNvPr id="14" name="Image 2" descr="preencoded.png">    </p:cNvPr>
          <p:cNvPicPr>
            <a:picLocks noChangeAspect="1"/>
          </p:cNvPicPr>
          <p:nvPr/>
        </p:nvPicPr>
        <p:blipFill>
          <a:blip r:embed="rId3"/>
          <a:stretch>
            <a:fillRect/>
          </a:stretch>
        </p:blipFill>
        <p:spPr>
          <a:xfrm>
            <a:off x="821588" y="3519068"/>
            <a:ext cx="231343" cy="231343"/>
          </a:xfrm>
          <a:prstGeom prst="rect">
            <a:avLst/>
          </a:prstGeom>
        </p:spPr>
      </p:pic>
      <p:sp>
        <p:nvSpPr>
          <p:cNvPr id="15" name="Text 10"/>
          <p:cNvSpPr txBox="1"/>
          <p:nvPr/>
        </p:nvSpPr>
        <p:spPr>
          <a:xfrm>
            <a:off x="1417320" y="3493008"/>
            <a:ext cx="457200" cy="274320"/>
          </a:xfrm>
          <a:prstGeom prst="rect">
            <a:avLst/>
          </a:prstGeom>
          <a:noFill/>
          <a:ln/>
        </p:spPr>
        <p:txBody>
          <a:bodyPr wrap="square" lIns="0" tIns="0" rIns="0" bIns="0" rtlCol="0" anchor="t"/>
          <a:lstStyle/>
          <a:p>
            <a:pPr indent="0" marL="0">
              <a:buNone/>
            </a:pPr>
            <a:r>
              <a:rPr lang="en-US" sz="1300" dirty="0">
                <a:solidFill>
                  <a:schemeClr val="accent2"/>
                </a:solidFill>
                <a:latin typeface="Consolas" pitchFamily="34" charset="0"/>
                <a:ea typeface="Consolas" pitchFamily="34" charset="-122"/>
                <a:cs typeface="Consolas" pitchFamily="34" charset="-120"/>
              </a:rPr>
              <a:t>03</a:t>
            </a:r>
            <a:endParaRPr lang="en-US" sz="1300" dirty="0"/>
          </a:p>
        </p:txBody>
      </p:sp>
      <p:sp>
        <p:nvSpPr>
          <p:cNvPr id="16" name="Text 11"/>
          <p:cNvSpPr txBox="1"/>
          <p:nvPr/>
        </p:nvSpPr>
        <p:spPr>
          <a:xfrm>
            <a:off x="1874520" y="3456432"/>
            <a:ext cx="3200400" cy="36576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Submit + inspect report</a:t>
            </a:r>
            <a:endParaRPr lang="en-US" sz="1800" dirty="0"/>
          </a:p>
        </p:txBody>
      </p:sp>
      <p:sp>
        <p:nvSpPr>
          <p:cNvPr id="17" name="LOGIN screenshot frame"/>
          <p:cNvSpPr/>
          <p:nvPr/>
        </p:nvSpPr>
        <p:spPr>
          <a:xfrm>
            <a:off x="685800" y="4389120"/>
            <a:ext cx="2103120" cy="1600200"/>
          </a:xfrm>
          <a:prstGeom prst="rect">
            <a:avLst/>
          </a:prstGeom>
          <a:solidFill>
            <a:schemeClr val="accent4"/>
          </a:solidFill>
          <a:ln w="12700">
            <a:solidFill>
              <a:schemeClr val="accent2"/>
            </a:solidFill>
            <a:prstDash val="dash"/>
          </a:ln>
        </p:spPr>
      </p:sp>
      <p:sp>
        <p:nvSpPr>
          <p:cNvPr id="18" name="Text 13"/>
          <p:cNvSpPr txBox="1"/>
          <p:nvPr/>
        </p:nvSpPr>
        <p:spPr>
          <a:xfrm>
            <a:off x="685800" y="4389120"/>
            <a:ext cx="2103120" cy="1600200"/>
          </a:xfrm>
          <a:prstGeom prst="rect">
            <a:avLst/>
          </a:prstGeom>
          <a:noFill/>
          <a:ln/>
        </p:spPr>
        <p:txBody>
          <a:bodyPr wrap="square" lIns="0" tIns="0" rIns="0" bIns="0" rtlCol="0" anchor="ctr"/>
          <a:lstStyle/>
          <a:p>
            <a:pPr algn="ctr" indent="0" marL="0">
              <a:buNone/>
            </a:pPr>
            <a:r>
              <a:rPr lang="en-US" sz="1100" dirty="0">
                <a:solidFill>
                  <a:schemeClr val="accent3"/>
                </a:solidFill>
                <a:latin typeface="Consolas" pitchFamily="34" charset="0"/>
                <a:ea typeface="Consolas" pitchFamily="34" charset="-122"/>
                <a:cs typeface="Consolas" pitchFamily="34" charset="-120"/>
              </a:rPr>
              <a:t>LOGIN SCREENSHOT</a:t>
            </a:r>
            <a:endParaRPr lang="en-US" sz="1100" dirty="0"/>
          </a:p>
          <a:p>
            <a:pPr algn="ctr" indent="0" marL="0">
              <a:buNone/>
            </a:pPr>
            <a:r>
              <a:rPr lang="en-US" sz="1100" dirty="0">
                <a:solidFill>
                  <a:schemeClr val="accent3"/>
                </a:solidFill>
                <a:latin typeface="Consolas" pitchFamily="34" charset="0"/>
                <a:ea typeface="Consolas" pitchFamily="34" charset="-122"/>
                <a:cs typeface="Consolas" pitchFamily="34" charset="-120"/>
              </a:rPr>
              <a:t>[placeholder]</a:t>
            </a:r>
            <a:endParaRPr lang="en-US" sz="1100" dirty="0"/>
          </a:p>
        </p:txBody>
      </p:sp>
      <p:sp>
        <p:nvSpPr>
          <p:cNvPr id="19" name="REPORT screenshot frame"/>
          <p:cNvSpPr/>
          <p:nvPr/>
        </p:nvSpPr>
        <p:spPr>
          <a:xfrm>
            <a:off x="2971800" y="4389120"/>
            <a:ext cx="2103120" cy="1600200"/>
          </a:xfrm>
          <a:prstGeom prst="rect">
            <a:avLst/>
          </a:prstGeom>
          <a:solidFill>
            <a:schemeClr val="accent4"/>
          </a:solidFill>
          <a:ln w="12700">
            <a:solidFill>
              <a:schemeClr val="accent2"/>
            </a:solidFill>
            <a:prstDash val="dash"/>
          </a:ln>
        </p:spPr>
      </p:sp>
      <p:sp>
        <p:nvSpPr>
          <p:cNvPr id="20" name="Text 15"/>
          <p:cNvSpPr txBox="1"/>
          <p:nvPr/>
        </p:nvSpPr>
        <p:spPr>
          <a:xfrm>
            <a:off x="2971800" y="4389120"/>
            <a:ext cx="2103120" cy="1600200"/>
          </a:xfrm>
          <a:prstGeom prst="rect">
            <a:avLst/>
          </a:prstGeom>
          <a:noFill/>
          <a:ln/>
        </p:spPr>
        <p:txBody>
          <a:bodyPr wrap="square" lIns="0" tIns="0" rIns="0" bIns="0" rtlCol="0" anchor="ctr"/>
          <a:lstStyle/>
          <a:p>
            <a:pPr algn="ctr" indent="0" marL="0">
              <a:buNone/>
            </a:pPr>
            <a:r>
              <a:rPr lang="en-US" sz="1100" dirty="0">
                <a:solidFill>
                  <a:schemeClr val="accent3"/>
                </a:solidFill>
                <a:latin typeface="Consolas" pitchFamily="34" charset="0"/>
                <a:ea typeface="Consolas" pitchFamily="34" charset="-122"/>
                <a:cs typeface="Consolas" pitchFamily="34" charset="-120"/>
              </a:rPr>
              <a:t>REPORT SCREENSHOT</a:t>
            </a:r>
            <a:endParaRPr lang="en-US" sz="1100" dirty="0"/>
          </a:p>
          <a:p>
            <a:pPr algn="ctr" indent="0" marL="0">
              <a:buNone/>
            </a:pPr>
            <a:r>
              <a:rPr lang="en-US" sz="1100" dirty="0">
                <a:solidFill>
                  <a:schemeClr val="accent3"/>
                </a:solidFill>
                <a:latin typeface="Consolas" pitchFamily="34" charset="0"/>
                <a:ea typeface="Consolas" pitchFamily="34" charset="-122"/>
                <a:cs typeface="Consolas" pitchFamily="34" charset="-120"/>
              </a:rPr>
              <a:t>[placeholder]</a:t>
            </a:r>
            <a:endParaRPr lang="en-US" sz="1100" dirty="0"/>
          </a:p>
        </p:txBody>
      </p:sp>
      <p:sp>
        <p:nvSpPr>
          <p:cNvPr id="21" name="Shape 16"/>
          <p:cNvSpPr/>
          <p:nvPr/>
        </p:nvSpPr>
        <p:spPr>
          <a:xfrm>
            <a:off x="5623560" y="1325880"/>
            <a:ext cx="5897880" cy="3794760"/>
          </a:xfrm>
          <a:prstGeom prst="roundRect">
            <a:avLst>
              <a:gd name="adj" fmla="val 2892"/>
            </a:avLst>
          </a:prstGeom>
          <a:solidFill>
            <a:srgbClr val="2A2A2A"/>
          </a:solidFill>
          <a:ln w="12700">
            <a:solidFill>
              <a:srgbClr val="4A4A4A"/>
            </a:solidFill>
            <a:prstDash val="solid"/>
          </a:ln>
        </p:spPr>
      </p:sp>
      <p:sp>
        <p:nvSpPr>
          <p:cNvPr id="22" name="CODING screenshot frame"/>
          <p:cNvSpPr/>
          <p:nvPr/>
        </p:nvSpPr>
        <p:spPr>
          <a:xfrm>
            <a:off x="5806440" y="1508760"/>
            <a:ext cx="5532120" cy="3429000"/>
          </a:xfrm>
          <a:prstGeom prst="rect">
            <a:avLst/>
          </a:prstGeom>
          <a:solidFill>
            <a:schemeClr val="tx1"/>
          </a:solidFill>
          <a:ln w="12700">
            <a:solidFill>
              <a:schemeClr val="accent1"/>
            </a:solidFill>
            <a:prstDash val="dash"/>
          </a:ln>
        </p:spPr>
      </p:sp>
      <p:sp>
        <p:nvSpPr>
          <p:cNvPr id="23" name="Text 18"/>
          <p:cNvSpPr txBox="1"/>
          <p:nvPr/>
        </p:nvSpPr>
        <p:spPr>
          <a:xfrm>
            <a:off x="5806440" y="1508760"/>
            <a:ext cx="5532120" cy="3429000"/>
          </a:xfrm>
          <a:prstGeom prst="rect">
            <a:avLst/>
          </a:prstGeom>
          <a:noFill/>
          <a:ln/>
        </p:spPr>
        <p:txBody>
          <a:bodyPr wrap="square" lIns="0" tIns="0" rIns="0" bIns="0" rtlCol="0" anchor="ctr"/>
          <a:lstStyle/>
          <a:p>
            <a:pPr algn="ctr" indent="0" marL="0">
              <a:buNone/>
            </a:pPr>
            <a:r>
              <a:rPr lang="en-US" sz="1400" dirty="0">
                <a:solidFill>
                  <a:schemeClr val="accent3"/>
                </a:solidFill>
                <a:latin typeface="Consolas" pitchFamily="34" charset="0"/>
                <a:ea typeface="Consolas" pitchFamily="34" charset="-122"/>
                <a:cs typeface="Consolas" pitchFamily="34" charset="-120"/>
              </a:rPr>
              <a:t>CODING SCREENSHOT</a:t>
            </a:r>
            <a:endParaRPr lang="en-US" sz="1400" dirty="0"/>
          </a:p>
          <a:p>
            <a:pPr algn="ctr" indent="0" marL="0">
              <a:buNone/>
            </a:pPr>
            <a:r>
              <a:rPr lang="en-US" sz="1400" dirty="0">
                <a:solidFill>
                  <a:schemeClr val="accent3"/>
                </a:solidFill>
                <a:latin typeface="Consolas" pitchFamily="34" charset="0"/>
                <a:ea typeface="Consolas" pitchFamily="34" charset="-122"/>
                <a:cs typeface="Consolas" pitchFamily="34" charset="-120"/>
              </a:rPr>
              <a:t>[placeholder]</a:t>
            </a:r>
            <a:endParaRPr lang="en-US" sz="1400" dirty="0"/>
          </a:p>
        </p:txBody>
      </p:sp>
      <p:sp>
        <p:nvSpPr>
          <p:cNvPr id="24" name="Shape 19"/>
          <p:cNvSpPr/>
          <p:nvPr/>
        </p:nvSpPr>
        <p:spPr>
          <a:xfrm>
            <a:off x="5349240" y="5120640"/>
            <a:ext cx="6446520" cy="182880"/>
          </a:xfrm>
          <a:prstGeom prst="roundRect">
            <a:avLst>
              <a:gd name="adj" fmla="val 40000"/>
            </a:avLst>
          </a:prstGeom>
          <a:solidFill>
            <a:srgbClr val="C8C8C8"/>
          </a:solidFill>
          <a:ln/>
        </p:spPr>
      </p:sp>
      <p:sp>
        <p:nvSpPr>
          <p:cNvPr id="25" name="Shape 20"/>
          <p:cNvSpPr/>
          <p:nvPr/>
        </p:nvSpPr>
        <p:spPr>
          <a:xfrm>
            <a:off x="8092440" y="5120640"/>
            <a:ext cx="960120" cy="73152"/>
          </a:xfrm>
          <a:prstGeom prst="roundRect">
            <a:avLst>
              <a:gd name="adj" fmla="val 50000"/>
            </a:avLst>
          </a:prstGeom>
          <a:solidFill>
            <a:srgbClr val="9A9A9A"/>
          </a:solidFill>
          <a:ln/>
        </p:spPr>
      </p:sp>
      <p:sp>
        <p:nvSpPr>
          <p:cNvPr id="26" name="Text 21"/>
          <p:cNvSpPr txBox="1"/>
          <p:nvPr/>
        </p:nvSpPr>
        <p:spPr>
          <a:xfrm>
            <a:off x="7086600" y="5806440"/>
            <a:ext cx="4754880" cy="320040"/>
          </a:xfrm>
          <a:prstGeom prst="rect">
            <a:avLst/>
          </a:prstGeom>
          <a:noFill/>
          <a:ln/>
        </p:spPr>
        <p:txBody>
          <a:bodyPr wrap="square" lIns="0" tIns="0" rIns="0" bIns="0" rtlCol="0" anchor="t"/>
          <a:lstStyle/>
          <a:p>
            <a:pPr indent="0" marL="0">
              <a:buNone/>
            </a:pPr>
            <a:r>
              <a:rPr lang="en-US" sz="1400" i="1" dirty="0">
                <a:solidFill>
                  <a:schemeClr val="tx2"/>
                </a:solidFill>
                <a:latin typeface="Arial" pitchFamily="34" charset="0"/>
                <a:ea typeface="Arial" pitchFamily="34" charset="-122"/>
                <a:cs typeface="Arial" pitchFamily="34" charset="-120"/>
              </a:rPr>
              <a:t>Screenshots and backup recording pending</a:t>
            </a:r>
            <a:endParaRPr lang="en-US" sz="14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bg1"/>
                </a:solidFill>
              </a:rPr>
              <a:t>Honest grading</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accent3"/>
                </a:solidFill>
              </a:rPr>
              <a:t>Grading stays outside candidate code</a:t>
            </a:r>
            <a:endParaRPr lang="en-US" sz="1700" dirty="0"/>
          </a:p>
        </p:txBody>
      </p:sp>
      <p:sp>
        <p:nvSpPr>
          <p:cNvPr id="4" name="Shape 2"/>
          <p:cNvSpPr/>
          <p:nvPr/>
        </p:nvSpPr>
        <p:spPr>
          <a:xfrm>
            <a:off x="5120640" y="0"/>
            <a:ext cx="7071055" cy="6858000"/>
          </a:xfrm>
          <a:prstGeom prst="rect">
            <a:avLst/>
          </a:prstGeom>
          <a:solidFill>
            <a:schemeClr val="bg1"/>
          </a:solidFill>
          <a:ln/>
        </p:spPr>
      </p:sp>
      <p:sp>
        <p:nvSpPr>
          <p:cNvPr id="5" name="Shape 3"/>
          <p:cNvSpPr/>
          <p:nvPr/>
        </p:nvSpPr>
        <p:spPr>
          <a:xfrm>
            <a:off x="685800" y="1828800"/>
            <a:ext cx="4023360" cy="1097280"/>
          </a:xfrm>
          <a:prstGeom prst="rect">
            <a:avLst/>
          </a:prstGeom>
          <a:solidFill>
            <a:schemeClr val="accent4"/>
          </a:solidFill>
          <a:ln/>
        </p:spPr>
      </p:sp>
      <p:sp>
        <p:nvSpPr>
          <p:cNvPr id="6" name="Text 4"/>
          <p:cNvSpPr txBox="1"/>
          <p:nvPr/>
        </p:nvSpPr>
        <p:spPr>
          <a:xfrm>
            <a:off x="914400" y="2103120"/>
            <a:ext cx="640080" cy="50292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01</a:t>
            </a:r>
            <a:endParaRPr lang="en-US" sz="2400" dirty="0"/>
          </a:p>
        </p:txBody>
      </p:sp>
      <p:sp>
        <p:nvSpPr>
          <p:cNvPr id="7" name="Text 5"/>
          <p:cNvSpPr txBox="1"/>
          <p:nvPr/>
        </p:nvSpPr>
        <p:spPr>
          <a:xfrm>
            <a:off x="1600200" y="1965960"/>
            <a:ext cx="2926080" cy="822960"/>
          </a:xfrm>
          <a:prstGeom prst="rect">
            <a:avLst/>
          </a:prstGeom>
          <a:noFill/>
          <a:ln/>
        </p:spPr>
        <p:txBody>
          <a:bodyPr wrap="square" lIns="0" tIns="0" rIns="0" bIns="0" rtlCol="0" anchor="ctr"/>
          <a:lstStyle/>
          <a:p>
            <a:pPr indent="0" marL="0">
              <a:buNone/>
            </a:pPr>
            <a:r>
              <a:rPr lang="en-US" sz="1600" dirty="0">
                <a:solidFill>
                  <a:schemeClr val="bg1"/>
                </a:solidFill>
                <a:latin typeface="Arial" pitchFamily="34" charset="0"/>
                <a:ea typeface="Arial" pitchFamily="34" charset="-122"/>
                <a:cs typeface="Arial" pitchFamily="34" charset="-120"/>
              </a:rPr>
              <a:t>Deterministic tests decide correctness.</a:t>
            </a:r>
            <a:endParaRPr lang="en-US" sz="1600" dirty="0"/>
          </a:p>
        </p:txBody>
      </p:sp>
      <p:sp>
        <p:nvSpPr>
          <p:cNvPr id="8" name="Shape 6"/>
          <p:cNvSpPr/>
          <p:nvPr/>
        </p:nvSpPr>
        <p:spPr>
          <a:xfrm>
            <a:off x="685800" y="3108960"/>
            <a:ext cx="4023360" cy="1097280"/>
          </a:xfrm>
          <a:prstGeom prst="rect">
            <a:avLst/>
          </a:prstGeom>
          <a:solidFill>
            <a:schemeClr val="accent4"/>
          </a:solidFill>
          <a:ln/>
        </p:spPr>
      </p:sp>
      <p:sp>
        <p:nvSpPr>
          <p:cNvPr id="9" name="Text 7"/>
          <p:cNvSpPr txBox="1"/>
          <p:nvPr/>
        </p:nvSpPr>
        <p:spPr>
          <a:xfrm>
            <a:off x="914400" y="3383280"/>
            <a:ext cx="640080" cy="50292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02</a:t>
            </a:r>
            <a:endParaRPr lang="en-US" sz="2400" dirty="0"/>
          </a:p>
        </p:txBody>
      </p:sp>
      <p:sp>
        <p:nvSpPr>
          <p:cNvPr id="10" name="Text 8"/>
          <p:cNvSpPr txBox="1"/>
          <p:nvPr/>
        </p:nvSpPr>
        <p:spPr>
          <a:xfrm>
            <a:off x="1600200" y="3246120"/>
            <a:ext cx="2926080" cy="822960"/>
          </a:xfrm>
          <a:prstGeom prst="rect">
            <a:avLst/>
          </a:prstGeom>
          <a:noFill/>
          <a:ln/>
        </p:spPr>
        <p:txBody>
          <a:bodyPr wrap="square" lIns="0" tIns="0" rIns="0" bIns="0" rtlCol="0" anchor="ctr"/>
          <a:lstStyle/>
          <a:p>
            <a:pPr indent="0" marL="0">
              <a:buNone/>
            </a:pPr>
            <a:r>
              <a:rPr lang="en-US" sz="1600" dirty="0">
                <a:solidFill>
                  <a:schemeClr val="bg1"/>
                </a:solidFill>
                <a:latin typeface="Arial" pitchFamily="34" charset="0"/>
                <a:ea typeface="Arial" pitchFamily="34" charset="-122"/>
                <a:cs typeface="Arial" pitchFamily="34" charset="-120"/>
              </a:rPr>
              <a:t>Candidate code and grading run in separate containers.</a:t>
            </a:r>
            <a:endParaRPr lang="en-US" sz="1600" dirty="0"/>
          </a:p>
        </p:txBody>
      </p:sp>
      <p:sp>
        <p:nvSpPr>
          <p:cNvPr id="11" name="Shape 9"/>
          <p:cNvSpPr/>
          <p:nvPr/>
        </p:nvSpPr>
        <p:spPr>
          <a:xfrm>
            <a:off x="685800" y="4389120"/>
            <a:ext cx="4023360" cy="1097280"/>
          </a:xfrm>
          <a:prstGeom prst="rect">
            <a:avLst/>
          </a:prstGeom>
          <a:solidFill>
            <a:schemeClr val="accent4"/>
          </a:solidFill>
          <a:ln/>
        </p:spPr>
      </p:sp>
      <p:sp>
        <p:nvSpPr>
          <p:cNvPr id="12" name="Text 10"/>
          <p:cNvSpPr txBox="1"/>
          <p:nvPr/>
        </p:nvSpPr>
        <p:spPr>
          <a:xfrm>
            <a:off x="914400" y="4663440"/>
            <a:ext cx="640080" cy="50292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03</a:t>
            </a:r>
            <a:endParaRPr lang="en-US" sz="2400" dirty="0"/>
          </a:p>
        </p:txBody>
      </p:sp>
      <p:sp>
        <p:nvSpPr>
          <p:cNvPr id="13" name="Text 11"/>
          <p:cNvSpPr txBox="1"/>
          <p:nvPr/>
        </p:nvSpPr>
        <p:spPr>
          <a:xfrm>
            <a:off x="1600200" y="4526280"/>
            <a:ext cx="2926080" cy="822960"/>
          </a:xfrm>
          <a:prstGeom prst="rect">
            <a:avLst/>
          </a:prstGeom>
          <a:noFill/>
          <a:ln/>
        </p:spPr>
        <p:txBody>
          <a:bodyPr wrap="square" lIns="0" tIns="0" rIns="0" bIns="0" rtlCol="0" anchor="ctr"/>
          <a:lstStyle/>
          <a:p>
            <a:pPr indent="0" marL="0">
              <a:buNone/>
            </a:pPr>
            <a:r>
              <a:rPr lang="en-US" sz="1600" dirty="0">
                <a:solidFill>
                  <a:schemeClr val="bg1"/>
                </a:solidFill>
                <a:latin typeface="Arial" pitchFamily="34" charset="0"/>
                <a:ea typeface="Arial" pitchFamily="34" charset="-122"/>
                <a:cs typeface="Arial" pitchFamily="34" charset="-120"/>
              </a:rPr>
              <a:t>Test source, expected outputs and reports stay with the grader.</a:t>
            </a:r>
            <a:endParaRPr lang="en-US" sz="1600" dirty="0"/>
          </a:p>
        </p:txBody>
      </p:sp>
      <p:sp>
        <p:nvSpPr>
          <p:cNvPr id="14" name="Shape 12"/>
          <p:cNvSpPr/>
          <p:nvPr/>
        </p:nvSpPr>
        <p:spPr>
          <a:xfrm>
            <a:off x="5806440" y="1051560"/>
            <a:ext cx="5715000" cy="1463040"/>
          </a:xfrm>
          <a:prstGeom prst="roundRect">
            <a:avLst>
              <a:gd name="adj" fmla="val 5000"/>
            </a:avLst>
          </a:prstGeom>
          <a:solidFill>
            <a:schemeClr val="tx1"/>
          </a:solidFill>
          <a:ln/>
        </p:spPr>
      </p:sp>
      <p:sp>
        <p:nvSpPr>
          <p:cNvPr id="15" name="Shape 13"/>
          <p:cNvSpPr/>
          <p:nvPr/>
        </p:nvSpPr>
        <p:spPr>
          <a:xfrm>
            <a:off x="6126480" y="1371600"/>
            <a:ext cx="822960" cy="822960"/>
          </a:xfrm>
          <a:prstGeom prst="ellipse">
            <a:avLst/>
          </a:prstGeom>
          <a:solidFill>
            <a:schemeClr val="accent1"/>
          </a:solidFill>
          <a:ln/>
        </p:spPr>
      </p:sp>
      <p:pic>
        <p:nvPicPr>
          <p:cNvPr id="16" name="Image 0" descr="preencoded.png">    </p:cNvPr>
          <p:cNvPicPr>
            <a:picLocks noChangeAspect="1"/>
          </p:cNvPicPr>
          <p:nvPr/>
        </p:nvPicPr>
        <p:blipFill>
          <a:blip r:embed="rId1"/>
          <a:stretch>
            <a:fillRect/>
          </a:stretch>
        </p:blipFill>
        <p:spPr>
          <a:xfrm>
            <a:off x="6348679" y="1593799"/>
            <a:ext cx="378562" cy="378562"/>
          </a:xfrm>
          <a:prstGeom prst="rect">
            <a:avLst/>
          </a:prstGeom>
        </p:spPr>
      </p:pic>
      <p:sp>
        <p:nvSpPr>
          <p:cNvPr id="17" name="Text 14"/>
          <p:cNvSpPr txBox="1"/>
          <p:nvPr/>
        </p:nvSpPr>
        <p:spPr>
          <a:xfrm>
            <a:off x="7178040" y="1371600"/>
            <a:ext cx="4114800" cy="411480"/>
          </a:xfrm>
          <a:prstGeom prst="rect">
            <a:avLst/>
          </a:prstGeom>
          <a:noFill/>
          <a:ln/>
        </p:spPr>
        <p:txBody>
          <a:bodyPr wrap="square" lIns="0" tIns="0" rIns="0" bIns="0" rtlCol="0" anchor="t"/>
          <a:lstStyle/>
          <a:p>
            <a:pPr indent="0" marL="0">
              <a:buNone/>
            </a:pPr>
            <a:r>
              <a:rPr lang="en-US" sz="2100" b="1" dirty="0">
                <a:solidFill>
                  <a:schemeClr val="bg1"/>
                </a:solidFill>
                <a:latin typeface="Arial" pitchFamily="34" charset="0"/>
                <a:ea typeface="Arial" pitchFamily="34" charset="-122"/>
                <a:cs typeface="Arial" pitchFamily="34" charset="-120"/>
              </a:rPr>
              <a:t>Trusted grader</a:t>
            </a:r>
            <a:endParaRPr lang="en-US" sz="2100" dirty="0"/>
          </a:p>
        </p:txBody>
      </p:sp>
      <p:sp>
        <p:nvSpPr>
          <p:cNvPr id="18" name="Text 15"/>
          <p:cNvSpPr txBox="1"/>
          <p:nvPr/>
        </p:nvSpPr>
        <p:spPr>
          <a:xfrm>
            <a:off x="7178040" y="1847088"/>
            <a:ext cx="4206240" cy="320040"/>
          </a:xfrm>
          <a:prstGeom prst="rect">
            <a:avLst/>
          </a:prstGeom>
          <a:noFill/>
          <a:ln/>
        </p:spPr>
        <p:txBody>
          <a:bodyPr wrap="square" lIns="0" tIns="0" rIns="0" bIns="0" rtlCol="0" anchor="t"/>
          <a:lstStyle/>
          <a:p>
            <a:pPr indent="0" marL="0">
              <a:buNone/>
            </a:pPr>
            <a:r>
              <a:rPr lang="en-US" sz="1300" dirty="0">
                <a:solidFill>
                  <a:schemeClr val="accent3"/>
                </a:solidFill>
                <a:latin typeface="Consolas" pitchFamily="34" charset="0"/>
                <a:ea typeface="Consolas" pitchFamily="34" charset="-122"/>
                <a:cs typeface="Consolas" pitchFamily="34" charset="-120"/>
              </a:rPr>
              <a:t>tests · expected outputs · report</a:t>
            </a:r>
            <a:endParaRPr lang="en-US" sz="1300" dirty="0"/>
          </a:p>
        </p:txBody>
      </p:sp>
      <p:sp>
        <p:nvSpPr>
          <p:cNvPr id="19" name="Shape 16"/>
          <p:cNvSpPr/>
          <p:nvPr/>
        </p:nvSpPr>
        <p:spPr>
          <a:xfrm>
            <a:off x="6537960" y="2606040"/>
            <a:ext cx="0" cy="914400"/>
          </a:xfrm>
          <a:prstGeom prst="line">
            <a:avLst/>
          </a:prstGeom>
          <a:noFill/>
          <a:ln w="22225">
            <a:solidFill>
              <a:schemeClr val="accent2"/>
            </a:solidFill>
            <a:prstDash val="solid"/>
            <a:headEnd type="triangle"/>
            <a:tailEnd type="triangle"/>
          </a:ln>
        </p:spPr>
      </p:sp>
      <p:sp>
        <p:nvSpPr>
          <p:cNvPr id="20" name="Text 17"/>
          <p:cNvSpPr txBox="1"/>
          <p:nvPr/>
        </p:nvSpPr>
        <p:spPr>
          <a:xfrm>
            <a:off x="6858000" y="2880360"/>
            <a:ext cx="3657600" cy="36576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Validated calls + results</a:t>
            </a:r>
            <a:endParaRPr lang="en-US" sz="1500" dirty="0"/>
          </a:p>
        </p:txBody>
      </p:sp>
      <p:sp>
        <p:nvSpPr>
          <p:cNvPr id="21" name="Shape 18"/>
          <p:cNvSpPr/>
          <p:nvPr/>
        </p:nvSpPr>
        <p:spPr>
          <a:xfrm>
            <a:off x="5806440" y="3611880"/>
            <a:ext cx="5715000" cy="1463040"/>
          </a:xfrm>
          <a:prstGeom prst="roundRect">
            <a:avLst>
              <a:gd name="adj" fmla="val 5000"/>
            </a:avLst>
          </a:prstGeom>
          <a:solidFill>
            <a:schemeClr val="bg2"/>
          </a:solidFill>
          <a:ln/>
        </p:spPr>
      </p:sp>
      <p:sp>
        <p:nvSpPr>
          <p:cNvPr id="22" name="Shape 19"/>
          <p:cNvSpPr/>
          <p:nvPr/>
        </p:nvSpPr>
        <p:spPr>
          <a:xfrm>
            <a:off x="6126480" y="3931920"/>
            <a:ext cx="822960" cy="822960"/>
          </a:xfrm>
          <a:prstGeom prst="ellipse">
            <a:avLst/>
          </a:prstGeom>
          <a:solidFill>
            <a:schemeClr val="tx1"/>
          </a:solidFill>
          <a:ln/>
        </p:spPr>
      </p:sp>
      <p:pic>
        <p:nvPicPr>
          <p:cNvPr id="23" name="Image 1" descr="preencoded.png">    </p:cNvPr>
          <p:cNvPicPr>
            <a:picLocks noChangeAspect="1"/>
          </p:cNvPicPr>
          <p:nvPr/>
        </p:nvPicPr>
        <p:blipFill>
          <a:blip r:embed="rId2"/>
          <a:stretch>
            <a:fillRect/>
          </a:stretch>
        </p:blipFill>
        <p:spPr>
          <a:xfrm>
            <a:off x="6348679" y="4154119"/>
            <a:ext cx="378562" cy="378562"/>
          </a:xfrm>
          <a:prstGeom prst="rect">
            <a:avLst/>
          </a:prstGeom>
        </p:spPr>
      </p:pic>
      <p:sp>
        <p:nvSpPr>
          <p:cNvPr id="24" name="Text 20"/>
          <p:cNvSpPr txBox="1"/>
          <p:nvPr/>
        </p:nvSpPr>
        <p:spPr>
          <a:xfrm>
            <a:off x="7178040" y="3931920"/>
            <a:ext cx="4114800" cy="411480"/>
          </a:xfrm>
          <a:prstGeom prst="rect">
            <a:avLst/>
          </a:prstGeom>
          <a:noFill/>
          <a:ln/>
        </p:spPr>
        <p:txBody>
          <a:bodyPr wrap="square" lIns="0" tIns="0" rIns="0" bIns="0" rtlCol="0" anchor="t"/>
          <a:lstStyle/>
          <a:p>
            <a:pPr indent="0" marL="0">
              <a:buNone/>
            </a:pPr>
            <a:r>
              <a:rPr lang="en-US" sz="2100" b="1" dirty="0">
                <a:solidFill>
                  <a:schemeClr val="tx1"/>
                </a:solidFill>
                <a:latin typeface="Arial" pitchFamily="34" charset="0"/>
                <a:ea typeface="Arial" pitchFamily="34" charset="-122"/>
                <a:cs typeface="Arial" pitchFamily="34" charset="-120"/>
              </a:rPr>
              <a:t>Candidate worker</a:t>
            </a:r>
            <a:endParaRPr lang="en-US" sz="2100" dirty="0"/>
          </a:p>
        </p:txBody>
      </p:sp>
      <p:sp>
        <p:nvSpPr>
          <p:cNvPr id="25" name="Text 21"/>
          <p:cNvSpPr txBox="1"/>
          <p:nvPr/>
        </p:nvSpPr>
        <p:spPr>
          <a:xfrm>
            <a:off x="7178040" y="4407408"/>
            <a:ext cx="4206240" cy="320040"/>
          </a:xfrm>
          <a:prstGeom prst="rect">
            <a:avLst/>
          </a:prstGeom>
          <a:noFill/>
          <a:ln/>
        </p:spPr>
        <p:txBody>
          <a:bodyPr wrap="square" lIns="0" tIns="0" rIns="0" bIns="0" rtlCol="0" anchor="t"/>
          <a:lstStyle/>
          <a:p>
            <a:pPr indent="0" marL="0">
              <a:buNone/>
            </a:pPr>
            <a:r>
              <a:rPr lang="en-US" sz="1300" dirty="0">
                <a:solidFill>
                  <a:schemeClr val="tx2"/>
                </a:solidFill>
                <a:latin typeface="Consolas" pitchFamily="34" charset="0"/>
                <a:ea typeface="Consolas" pitchFamily="34" charset="-122"/>
                <a:cs typeface="Consolas" pitchFamily="34" charset="-120"/>
              </a:rPr>
              <a:t>candidate code · no network · read-only</a:t>
            </a:r>
            <a:endParaRPr lang="en-US" sz="1300" dirty="0"/>
          </a:p>
        </p:txBody>
      </p:sp>
      <p:sp>
        <p:nvSpPr>
          <p:cNvPr id="26" name="Text 22"/>
          <p:cNvSpPr txBox="1"/>
          <p:nvPr/>
        </p:nvSpPr>
        <p:spPr>
          <a:xfrm>
            <a:off x="5806440" y="5349240"/>
            <a:ext cx="5715000" cy="6858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Forged reports, forced exits and pytest monkeypatching no longer change a grade — 20 real-Docker tests, reported by Rithvik.</a:t>
            </a:r>
            <a:endParaRPr lang="en-US" sz="14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bg1"/>
                </a:solidFill>
              </a:rPr>
              <a:t>Guarded AI</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accent3"/>
                </a:solidFill>
              </a:rPr>
              <a:t>Hints without the answer, scored from logs</a:t>
            </a:r>
            <a:endParaRPr lang="en-US" sz="1700" dirty="0"/>
          </a:p>
        </p:txBody>
      </p:sp>
      <p:sp>
        <p:nvSpPr>
          <p:cNvPr id="4" name="Shape 2"/>
          <p:cNvSpPr/>
          <p:nvPr/>
        </p:nvSpPr>
        <p:spPr>
          <a:xfrm>
            <a:off x="685800" y="1975104"/>
            <a:ext cx="118872" cy="118872"/>
          </a:xfrm>
          <a:prstGeom prst="rect">
            <a:avLst/>
          </a:prstGeom>
          <a:solidFill>
            <a:schemeClr val="accent1"/>
          </a:solidFill>
          <a:ln/>
        </p:spPr>
      </p:sp>
      <p:sp>
        <p:nvSpPr>
          <p:cNvPr id="5" name="Text 3"/>
          <p:cNvSpPr txBox="1"/>
          <p:nvPr/>
        </p:nvSpPr>
        <p:spPr>
          <a:xfrm>
            <a:off x="1005840" y="1874520"/>
            <a:ext cx="4663440" cy="640080"/>
          </a:xfrm>
          <a:prstGeom prst="rect">
            <a:avLst/>
          </a:prstGeom>
          <a:noFill/>
          <a:ln/>
        </p:spPr>
        <p:txBody>
          <a:bodyPr wrap="square" lIns="0" tIns="0" rIns="0" bIns="0" rtlCol="0" anchor="t"/>
          <a:lstStyle/>
          <a:p>
            <a:pPr indent="0" marL="0">
              <a:buNone/>
            </a:pPr>
            <a:r>
              <a:rPr lang="en-US" sz="1700" dirty="0">
                <a:solidFill>
                  <a:schemeClr val="bg1"/>
                </a:solidFill>
                <a:latin typeface="Arial" pitchFamily="34" charset="0"/>
                <a:ea typeface="Arial" pitchFamily="34" charset="-122"/>
                <a:cs typeface="Arial" pitchFamily="34" charset="-120"/>
              </a:rPr>
              <a:t>The model never sees reference solutions or hidden tests.</a:t>
            </a:r>
            <a:endParaRPr lang="en-US" sz="1700" dirty="0"/>
          </a:p>
        </p:txBody>
      </p:sp>
      <p:sp>
        <p:nvSpPr>
          <p:cNvPr id="6" name="Shape 4"/>
          <p:cNvSpPr/>
          <p:nvPr/>
        </p:nvSpPr>
        <p:spPr>
          <a:xfrm>
            <a:off x="685800" y="2706624"/>
            <a:ext cx="118872" cy="118872"/>
          </a:xfrm>
          <a:prstGeom prst="rect">
            <a:avLst/>
          </a:prstGeom>
          <a:solidFill>
            <a:schemeClr val="accent1"/>
          </a:solidFill>
          <a:ln/>
        </p:spPr>
      </p:sp>
      <p:sp>
        <p:nvSpPr>
          <p:cNvPr id="7" name="Text 5"/>
          <p:cNvSpPr txBox="1"/>
          <p:nvPr/>
        </p:nvSpPr>
        <p:spPr>
          <a:xfrm>
            <a:off x="1005840" y="2606040"/>
            <a:ext cx="4663440" cy="640080"/>
          </a:xfrm>
          <a:prstGeom prst="rect">
            <a:avLst/>
          </a:prstGeom>
          <a:noFill/>
          <a:ln/>
        </p:spPr>
        <p:txBody>
          <a:bodyPr wrap="square" lIns="0" tIns="0" rIns="0" bIns="0" rtlCol="0" anchor="t"/>
          <a:lstStyle/>
          <a:p>
            <a:pPr indent="0" marL="0">
              <a:buNone/>
            </a:pPr>
            <a:r>
              <a:rPr lang="en-US" sz="1700" dirty="0">
                <a:solidFill>
                  <a:schemeClr val="bg1"/>
                </a:solidFill>
                <a:latin typeface="Arial" pitchFamily="34" charset="0"/>
                <a:ea typeface="Arial" pitchFamily="34" charset="-122"/>
                <a:cs typeface="Arial" pitchFamily="34" charset="-120"/>
              </a:rPr>
              <a:t>Input checks + output checks guard each reply.</a:t>
            </a:r>
            <a:endParaRPr lang="en-US" sz="1700" dirty="0"/>
          </a:p>
        </p:txBody>
      </p:sp>
      <p:sp>
        <p:nvSpPr>
          <p:cNvPr id="8" name="Shape 6"/>
          <p:cNvSpPr/>
          <p:nvPr/>
        </p:nvSpPr>
        <p:spPr>
          <a:xfrm>
            <a:off x="685800" y="3438144"/>
            <a:ext cx="118872" cy="118872"/>
          </a:xfrm>
          <a:prstGeom prst="rect">
            <a:avLst/>
          </a:prstGeom>
          <a:solidFill>
            <a:schemeClr val="accent1"/>
          </a:solidFill>
          <a:ln/>
        </p:spPr>
      </p:sp>
      <p:sp>
        <p:nvSpPr>
          <p:cNvPr id="9" name="Text 7"/>
          <p:cNvSpPr txBox="1"/>
          <p:nvPr/>
        </p:nvSpPr>
        <p:spPr>
          <a:xfrm>
            <a:off x="1005840" y="3337560"/>
            <a:ext cx="4663440" cy="640080"/>
          </a:xfrm>
          <a:prstGeom prst="rect">
            <a:avLst/>
          </a:prstGeom>
          <a:noFill/>
          <a:ln/>
        </p:spPr>
        <p:txBody>
          <a:bodyPr wrap="square" lIns="0" tIns="0" rIns="0" bIns="0" rtlCol="0" anchor="t"/>
          <a:lstStyle/>
          <a:p>
            <a:pPr indent="0" marL="0">
              <a:buNone/>
            </a:pPr>
            <a:r>
              <a:rPr lang="en-US" sz="1700" dirty="0">
                <a:solidFill>
                  <a:schemeClr val="bg1"/>
                </a:solidFill>
                <a:latin typeface="Arial" pitchFamily="34" charset="0"/>
                <a:ea typeface="Arial" pitchFamily="34" charset="-122"/>
                <a:cs typeface="Arial" pitchFamily="34" charset="-120"/>
              </a:rPr>
              <a:t>AI efficiency: up to 20 points, calculated from logs.</a:t>
            </a:r>
            <a:endParaRPr lang="en-US" sz="1700" dirty="0"/>
          </a:p>
        </p:txBody>
      </p:sp>
      <p:sp>
        <p:nvSpPr>
          <p:cNvPr id="10" name="Text 8"/>
          <p:cNvSpPr txBox="1"/>
          <p:nvPr/>
        </p:nvSpPr>
        <p:spPr>
          <a:xfrm>
            <a:off x="685800" y="4206240"/>
            <a:ext cx="2743200" cy="868680"/>
          </a:xfrm>
          <a:prstGeom prst="rect">
            <a:avLst/>
          </a:prstGeom>
          <a:noFill/>
          <a:ln/>
        </p:spPr>
        <p:txBody>
          <a:bodyPr wrap="square" lIns="0" tIns="0" rIns="0" bIns="0" rtlCol="0" anchor="ctr"/>
          <a:lstStyle/>
          <a:p>
            <a:pPr indent="0" marL="0">
              <a:buNone/>
            </a:pPr>
            <a:r>
              <a:rPr lang="en-US" sz="5600" b="1" dirty="0">
                <a:solidFill>
                  <a:schemeClr val="accent1"/>
                </a:solidFill>
                <a:latin typeface="Arial" pitchFamily="34" charset="0"/>
                <a:ea typeface="Arial" pitchFamily="34" charset="-122"/>
                <a:cs typeface="Arial" pitchFamily="34" charset="-120"/>
              </a:rPr>
              <a:t>0 leaks</a:t>
            </a:r>
            <a:endParaRPr lang="en-US" sz="5600" dirty="0"/>
          </a:p>
        </p:txBody>
      </p:sp>
      <p:sp>
        <p:nvSpPr>
          <p:cNvPr id="11" name="Text 9"/>
          <p:cNvSpPr txBox="1"/>
          <p:nvPr/>
        </p:nvSpPr>
        <p:spPr>
          <a:xfrm>
            <a:off x="3337560" y="4315968"/>
            <a:ext cx="2743200" cy="685800"/>
          </a:xfrm>
          <a:prstGeom prst="rect">
            <a:avLst/>
          </a:prstGeom>
          <a:noFill/>
          <a:ln/>
        </p:spPr>
        <p:txBody>
          <a:bodyPr wrap="square" lIns="0" tIns="0" rIns="0" bIns="0" rtlCol="0" anchor="ctr"/>
          <a:lstStyle/>
          <a:p>
            <a:pPr indent="0" marL="0">
              <a:buNone/>
            </a:pPr>
            <a:r>
              <a:rPr lang="en-US" sz="1400" dirty="0">
                <a:solidFill>
                  <a:schemeClr val="accent3"/>
                </a:solidFill>
                <a:latin typeface="Arial" pitchFamily="34" charset="0"/>
                <a:ea typeface="Arial" pitchFamily="34" charset="-122"/>
                <a:cs typeface="Arial" pitchFamily="34" charset="-120"/>
              </a:rPr>
              <a:t>in our 22-scenario live test, after fixing the 8 leaks we found</a:t>
            </a:r>
            <a:endParaRPr lang="en-US" sz="1400" dirty="0"/>
          </a:p>
        </p:txBody>
      </p:sp>
      <p:sp>
        <p:nvSpPr>
          <p:cNvPr id="12" name="Text 10"/>
          <p:cNvSpPr txBox="1"/>
          <p:nvPr/>
        </p:nvSpPr>
        <p:spPr>
          <a:xfrm>
            <a:off x="685800" y="5257800"/>
            <a:ext cx="5029200" cy="274320"/>
          </a:xfrm>
          <a:prstGeom prst="rect">
            <a:avLst/>
          </a:prstGeom>
          <a:noFill/>
          <a:ln/>
        </p:spPr>
        <p:txBody>
          <a:bodyPr wrap="square" lIns="0" tIns="0" rIns="0" bIns="0" rtlCol="0" anchor="t"/>
          <a:lstStyle/>
          <a:p>
            <a:pPr indent="0" marL="0">
              <a:buNone/>
            </a:pPr>
            <a:r>
              <a:rPr lang="en-US" sz="1200" dirty="0">
                <a:solidFill>
                  <a:schemeClr val="accent2"/>
                </a:solidFill>
                <a:latin typeface="Consolas" pitchFamily="34" charset="0"/>
                <a:ea typeface="Consolas" pitchFamily="34" charset="-122"/>
                <a:cs typeface="Consolas" pitchFamily="34" charset="-120"/>
              </a:rPr>
              <a:t>Qwen3-30B-A3B · median ≈ 2.1 s per answered call</a:t>
            </a:r>
            <a:endParaRPr lang="en-US" sz="1200" dirty="0"/>
          </a:p>
        </p:txBody>
      </p:sp>
      <p:sp>
        <p:nvSpPr>
          <p:cNvPr id="13" name="Context boundary"/>
          <p:cNvSpPr/>
          <p:nvPr/>
        </p:nvSpPr>
        <p:spPr>
          <a:xfrm>
            <a:off x="6766560" y="1417320"/>
            <a:ext cx="4297680" cy="4297680"/>
          </a:xfrm>
          <a:prstGeom prst="ellipse">
            <a:avLst/>
          </a:prstGeom>
          <a:ln w="28575">
            <a:solidFill>
              <a:schemeClr val="accent1"/>
            </a:solidFill>
            <a:prstDash val="solid"/>
          </a:ln>
        </p:spPr>
      </p:sp>
      <p:sp>
        <p:nvSpPr>
          <p:cNvPr id="14" name="Input guard"/>
          <p:cNvSpPr/>
          <p:nvPr/>
        </p:nvSpPr>
        <p:spPr>
          <a:xfrm>
            <a:off x="7315200" y="1965960"/>
            <a:ext cx="3200400" cy="3200400"/>
          </a:xfrm>
          <a:prstGeom prst="ellipse">
            <a:avLst/>
          </a:prstGeom>
          <a:solidFill>
            <a:schemeClr val="accent4"/>
          </a:solidFill>
          <a:ln w="15875">
            <a:solidFill>
              <a:srgbClr val="5A5A5A"/>
            </a:solidFill>
            <a:prstDash val="solid"/>
          </a:ln>
        </p:spPr>
      </p:sp>
      <p:sp>
        <p:nvSpPr>
          <p:cNvPr id="15" name="Output guard"/>
          <p:cNvSpPr/>
          <p:nvPr/>
        </p:nvSpPr>
        <p:spPr>
          <a:xfrm>
            <a:off x="7909560" y="2560320"/>
            <a:ext cx="2011680" cy="2011680"/>
          </a:xfrm>
          <a:prstGeom prst="ellipse">
            <a:avLst/>
          </a:prstGeom>
          <a:solidFill>
            <a:schemeClr val="bg1"/>
          </a:solidFill>
          <a:ln/>
        </p:spPr>
      </p:sp>
      <p:sp>
        <p:nvSpPr>
          <p:cNvPr id="16" name="Text 14"/>
          <p:cNvSpPr txBox="1"/>
          <p:nvPr/>
        </p:nvSpPr>
        <p:spPr>
          <a:xfrm>
            <a:off x="7543800" y="1618488"/>
            <a:ext cx="2743200" cy="274320"/>
          </a:xfrm>
          <a:prstGeom prst="rect">
            <a:avLst/>
          </a:prstGeom>
          <a:noFill/>
          <a:ln/>
        </p:spPr>
        <p:txBody>
          <a:bodyPr wrap="square" lIns="0" tIns="0" rIns="0" bIns="0" rtlCol="0" anchor="t"/>
          <a:lstStyle/>
          <a:p>
            <a:pPr algn="ctr" indent="0" marL="0">
              <a:buNone/>
            </a:pPr>
            <a:r>
              <a:rPr lang="en-US" sz="1100" spc="200" kern="0" dirty="0">
                <a:solidFill>
                  <a:schemeClr val="accent1"/>
                </a:solidFill>
                <a:latin typeface="Consolas" pitchFamily="34" charset="0"/>
                <a:ea typeface="Consolas" pitchFamily="34" charset="-122"/>
                <a:cs typeface="Consolas" pitchFamily="34" charset="-120"/>
              </a:rPr>
              <a:t>CONTEXT BOUNDARY</a:t>
            </a:r>
            <a:endParaRPr lang="en-US" sz="1100" dirty="0"/>
          </a:p>
        </p:txBody>
      </p:sp>
      <p:sp>
        <p:nvSpPr>
          <p:cNvPr id="17" name="Text 15"/>
          <p:cNvSpPr txBox="1"/>
          <p:nvPr/>
        </p:nvSpPr>
        <p:spPr>
          <a:xfrm>
            <a:off x="7543800" y="2194560"/>
            <a:ext cx="2743200" cy="274320"/>
          </a:xfrm>
          <a:prstGeom prst="rect">
            <a:avLst/>
          </a:prstGeom>
          <a:noFill/>
          <a:ln/>
        </p:spPr>
        <p:txBody>
          <a:bodyPr wrap="square" lIns="0" tIns="0" rIns="0" bIns="0" rtlCol="0" anchor="t"/>
          <a:lstStyle/>
          <a:p>
            <a:pPr algn="ctr" indent="0" marL="0">
              <a:buNone/>
            </a:pPr>
            <a:r>
              <a:rPr lang="en-US" sz="1100" spc="200" kern="0" dirty="0">
                <a:solidFill>
                  <a:schemeClr val="accent3"/>
                </a:solidFill>
                <a:latin typeface="Consolas" pitchFamily="34" charset="0"/>
                <a:ea typeface="Consolas" pitchFamily="34" charset="-122"/>
                <a:cs typeface="Consolas" pitchFamily="34" charset="-120"/>
              </a:rPr>
              <a:t>INPUT GUARD</a:t>
            </a:r>
            <a:endParaRPr lang="en-US" sz="1100" dirty="0"/>
          </a:p>
        </p:txBody>
      </p:sp>
      <p:sp>
        <p:nvSpPr>
          <p:cNvPr id="18" name="Text 16"/>
          <p:cNvSpPr txBox="1"/>
          <p:nvPr/>
        </p:nvSpPr>
        <p:spPr>
          <a:xfrm>
            <a:off x="8001000" y="2999232"/>
            <a:ext cx="1828800" cy="274320"/>
          </a:xfrm>
          <a:prstGeom prst="rect">
            <a:avLst/>
          </a:prstGeom>
          <a:noFill/>
          <a:ln/>
        </p:spPr>
        <p:txBody>
          <a:bodyPr wrap="square" lIns="0" tIns="0" rIns="0" bIns="0" rtlCol="0" anchor="t"/>
          <a:lstStyle/>
          <a:p>
            <a:pPr algn="ctr" indent="0" marL="0">
              <a:buNone/>
            </a:pPr>
            <a:r>
              <a:rPr lang="en-US" sz="1000" spc="100" kern="0" dirty="0">
                <a:solidFill>
                  <a:schemeClr val="tx2"/>
                </a:solidFill>
                <a:latin typeface="Consolas" pitchFamily="34" charset="0"/>
                <a:ea typeface="Consolas" pitchFamily="34" charset="-122"/>
                <a:cs typeface="Consolas" pitchFamily="34" charset="-120"/>
              </a:rPr>
              <a:t>OUTPUT GUARD</a:t>
            </a:r>
            <a:endParaRPr lang="en-US" sz="1000" dirty="0"/>
          </a:p>
        </p:txBody>
      </p:sp>
      <p:sp>
        <p:nvSpPr>
          <p:cNvPr id="19" name="Text 17"/>
          <p:cNvSpPr txBox="1"/>
          <p:nvPr/>
        </p:nvSpPr>
        <p:spPr>
          <a:xfrm>
            <a:off x="8001000" y="3337560"/>
            <a:ext cx="1828800" cy="54864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Reply</a:t>
            </a:r>
            <a:endParaRPr lang="en-US" sz="2600" dirty="0"/>
          </a:p>
        </p:txBody>
      </p:sp>
      <p:sp>
        <p:nvSpPr>
          <p:cNvPr id="20" name="Text 18"/>
          <p:cNvSpPr txBox="1"/>
          <p:nvPr/>
        </p:nvSpPr>
        <p:spPr>
          <a:xfrm>
            <a:off x="6172200" y="5897880"/>
            <a:ext cx="5486400" cy="320040"/>
          </a:xfrm>
          <a:prstGeom prst="rect">
            <a:avLst/>
          </a:prstGeom>
          <a:noFill/>
          <a:ln/>
        </p:spPr>
        <p:txBody>
          <a:bodyPr wrap="square" lIns="0" tIns="0" rIns="0" bIns="0" rtlCol="0" anchor="t"/>
          <a:lstStyle/>
          <a:p>
            <a:pPr algn="ctr" indent="0" marL="0">
              <a:buNone/>
            </a:pPr>
            <a:r>
              <a:rPr lang="en-US" sz="1300" dirty="0">
                <a:solidFill>
                  <a:schemeClr val="accent3"/>
                </a:solidFill>
                <a:latin typeface="Consolas" pitchFamily="34" charset="0"/>
                <a:ea typeface="Consolas" pitchFamily="34" charset="-122"/>
                <a:cs typeface="Consolas" pitchFamily="34" charset="-120"/>
              </a:rPr>
              <a:t>Independence  ·  Hint yield  ·  Test discipline</a:t>
            </a:r>
            <a:endParaRPr lang="en-US" sz="13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tx1"/>
                </a:solidFill>
              </a:rPr>
              <a:t>Architecture</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tx2"/>
                </a:solidFill>
              </a:rPr>
              <a:t>One backend, one LLM gateway, isolated runs</a:t>
            </a:r>
            <a:endParaRPr lang="en-US" sz="1700" dirty="0"/>
          </a:p>
        </p:txBody>
      </p:sp>
      <p:pic>
        <p:nvPicPr>
          <p:cNvPr id="4" name="Image 0" descr="preencoded.png">    </p:cNvPr>
          <p:cNvPicPr>
            <a:picLocks noChangeAspect="1"/>
          </p:cNvPicPr>
          <p:nvPr/>
        </p:nvPicPr>
        <p:blipFill>
          <a:blip r:embed="rId1"/>
          <a:stretch>
            <a:fillRect/>
          </a:stretch>
        </p:blipFill>
        <p:spPr>
          <a:xfrm>
            <a:off x="9445752" y="0"/>
            <a:ext cx="2743200" cy="2743200"/>
          </a:xfrm>
          <a:prstGeom prst="rect">
            <a:avLst/>
          </a:prstGeom>
        </p:spPr>
      </p:pic>
      <p:sp>
        <p:nvSpPr>
          <p:cNvPr id="5" name="Browser"/>
          <p:cNvSpPr/>
          <p:nvPr/>
        </p:nvSpPr>
        <p:spPr>
          <a:xfrm>
            <a:off x="685800" y="1828800"/>
            <a:ext cx="2377440" cy="2194560"/>
          </a:xfrm>
          <a:prstGeom prst="roundRect">
            <a:avLst>
              <a:gd name="adj" fmla="val 5000"/>
            </a:avLst>
          </a:prstGeom>
          <a:solidFill>
            <a:schemeClr val="bg1"/>
          </a:solidFill>
          <a:ln w="12700">
            <a:solidFill>
              <a:schemeClr val="accent3"/>
            </a:solidFill>
            <a:prstDash val="solid"/>
          </a:ln>
          <a:effectLst>
            <a:outerShdw sx="100000" sy="100000" kx="0" ky="0" algn="bl" rotWithShape="0" blurRad="101600" dist="25400" dir="5400000">
              <a:srgbClr val="000000">
                <a:alpha val="12000"/>
              </a:srgbClr>
            </a:outerShdw>
          </a:effectLst>
        </p:spPr>
      </p:sp>
      <p:sp>
        <p:nvSpPr>
          <p:cNvPr id="6" name="Shape 3"/>
          <p:cNvSpPr/>
          <p:nvPr/>
        </p:nvSpPr>
        <p:spPr>
          <a:xfrm>
            <a:off x="685800" y="1828800"/>
            <a:ext cx="2377440" cy="1005840"/>
          </a:xfrm>
          <a:prstGeom prst="roundRect">
            <a:avLst>
              <a:gd name="adj" fmla="val 10909"/>
            </a:avLst>
          </a:prstGeom>
          <a:solidFill>
            <a:schemeClr val="tx1"/>
          </a:solidFill>
          <a:ln/>
        </p:spPr>
      </p:sp>
      <p:sp>
        <p:nvSpPr>
          <p:cNvPr id="7" name="Shape 4"/>
          <p:cNvSpPr/>
          <p:nvPr/>
        </p:nvSpPr>
        <p:spPr>
          <a:xfrm>
            <a:off x="685800" y="2560320"/>
            <a:ext cx="2377440" cy="274320"/>
          </a:xfrm>
          <a:prstGeom prst="rect">
            <a:avLst/>
          </a:prstGeom>
          <a:solidFill>
            <a:schemeClr val="tx1"/>
          </a:solidFill>
          <a:ln/>
        </p:spPr>
      </p:sp>
      <p:pic>
        <p:nvPicPr>
          <p:cNvPr id="8" name="Image 1" descr="preencoded.png">    </p:cNvPr>
          <p:cNvPicPr>
            <a:picLocks noChangeAspect="1"/>
          </p:cNvPicPr>
          <p:nvPr/>
        </p:nvPicPr>
        <p:blipFill>
          <a:blip r:embed="rId2"/>
          <a:stretch>
            <a:fillRect/>
          </a:stretch>
        </p:blipFill>
        <p:spPr>
          <a:xfrm>
            <a:off x="1627632" y="2084832"/>
            <a:ext cx="493776" cy="493776"/>
          </a:xfrm>
          <a:prstGeom prst="rect">
            <a:avLst/>
          </a:prstGeom>
        </p:spPr>
      </p:pic>
      <p:sp>
        <p:nvSpPr>
          <p:cNvPr id="9" name="Text 5"/>
          <p:cNvSpPr txBox="1"/>
          <p:nvPr/>
        </p:nvSpPr>
        <p:spPr>
          <a:xfrm>
            <a:off x="914400" y="2999232"/>
            <a:ext cx="201168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Browser</a:t>
            </a:r>
            <a:endParaRPr lang="en-US" sz="1800" dirty="0"/>
          </a:p>
        </p:txBody>
      </p:sp>
      <p:sp>
        <p:nvSpPr>
          <p:cNvPr id="10" name="Text 6"/>
          <p:cNvSpPr txBox="1"/>
          <p:nvPr/>
        </p:nvSpPr>
        <p:spPr>
          <a:xfrm>
            <a:off x="914400" y="3429000"/>
            <a:ext cx="2011680" cy="45720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candidate UI</a:t>
            </a:r>
            <a:endParaRPr lang="en-US" sz="1200" dirty="0"/>
          </a:p>
        </p:txBody>
      </p:sp>
      <p:sp>
        <p:nvSpPr>
          <p:cNvPr id="11" name="Shape 7"/>
          <p:cNvSpPr/>
          <p:nvPr/>
        </p:nvSpPr>
        <p:spPr>
          <a:xfrm>
            <a:off x="3118104" y="2331720"/>
            <a:ext cx="320040" cy="0"/>
          </a:xfrm>
          <a:prstGeom prst="line">
            <a:avLst/>
          </a:prstGeom>
          <a:noFill/>
          <a:ln w="19050">
            <a:solidFill>
              <a:schemeClr val="accent2"/>
            </a:solidFill>
            <a:prstDash val="solid"/>
            <a:tailEnd type="triangle"/>
          </a:ln>
        </p:spPr>
      </p:sp>
      <p:sp>
        <p:nvSpPr>
          <p:cNvPr id="12" name="Core platform"/>
          <p:cNvSpPr/>
          <p:nvPr/>
        </p:nvSpPr>
        <p:spPr>
          <a:xfrm>
            <a:off x="3493008" y="1828800"/>
            <a:ext cx="2377440" cy="2194560"/>
          </a:xfrm>
          <a:prstGeom prst="roundRect">
            <a:avLst>
              <a:gd name="adj" fmla="val 5000"/>
            </a:avLst>
          </a:prstGeom>
          <a:solidFill>
            <a:schemeClr val="bg1"/>
          </a:solidFill>
          <a:ln w="12700">
            <a:solidFill>
              <a:schemeClr val="accent3"/>
            </a:solidFill>
            <a:prstDash val="solid"/>
          </a:ln>
          <a:effectLst>
            <a:outerShdw sx="100000" sy="100000" kx="0" ky="0" algn="bl" rotWithShape="0" blurRad="101600" dist="25400" dir="5400000">
              <a:srgbClr val="000000">
                <a:alpha val="12000"/>
              </a:srgbClr>
            </a:outerShdw>
          </a:effectLst>
        </p:spPr>
      </p:sp>
      <p:sp>
        <p:nvSpPr>
          <p:cNvPr id="13" name="Shape 9"/>
          <p:cNvSpPr/>
          <p:nvPr/>
        </p:nvSpPr>
        <p:spPr>
          <a:xfrm>
            <a:off x="3493008" y="1828800"/>
            <a:ext cx="2377440" cy="1005840"/>
          </a:xfrm>
          <a:prstGeom prst="roundRect">
            <a:avLst>
              <a:gd name="adj" fmla="val 10909"/>
            </a:avLst>
          </a:prstGeom>
          <a:solidFill>
            <a:schemeClr val="tx1"/>
          </a:solidFill>
          <a:ln/>
        </p:spPr>
      </p:sp>
      <p:sp>
        <p:nvSpPr>
          <p:cNvPr id="14" name="Shape 10"/>
          <p:cNvSpPr/>
          <p:nvPr/>
        </p:nvSpPr>
        <p:spPr>
          <a:xfrm>
            <a:off x="3493008" y="2560320"/>
            <a:ext cx="2377440" cy="274320"/>
          </a:xfrm>
          <a:prstGeom prst="rect">
            <a:avLst/>
          </a:prstGeom>
          <a:solidFill>
            <a:schemeClr val="tx1"/>
          </a:solidFill>
          <a:ln/>
        </p:spPr>
      </p:sp>
      <p:pic>
        <p:nvPicPr>
          <p:cNvPr id="15" name="Image 2" descr="preencoded.png">    </p:cNvPr>
          <p:cNvPicPr>
            <a:picLocks noChangeAspect="1"/>
          </p:cNvPicPr>
          <p:nvPr/>
        </p:nvPicPr>
        <p:blipFill>
          <a:blip r:embed="rId3"/>
          <a:stretch>
            <a:fillRect/>
          </a:stretch>
        </p:blipFill>
        <p:spPr>
          <a:xfrm>
            <a:off x="4434840" y="2084832"/>
            <a:ext cx="493776" cy="493776"/>
          </a:xfrm>
          <a:prstGeom prst="rect">
            <a:avLst/>
          </a:prstGeom>
        </p:spPr>
      </p:pic>
      <p:sp>
        <p:nvSpPr>
          <p:cNvPr id="16" name="Text 11"/>
          <p:cNvSpPr txBox="1"/>
          <p:nvPr/>
        </p:nvSpPr>
        <p:spPr>
          <a:xfrm>
            <a:off x="3721608" y="2999232"/>
            <a:ext cx="201168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Core platform</a:t>
            </a:r>
            <a:endParaRPr lang="en-US" sz="1800" dirty="0"/>
          </a:p>
        </p:txBody>
      </p:sp>
      <p:sp>
        <p:nvSpPr>
          <p:cNvPr id="17" name="Text 12"/>
          <p:cNvSpPr txBox="1"/>
          <p:nvPr/>
        </p:nvSpPr>
        <p:spPr>
          <a:xfrm>
            <a:off x="3721608" y="3429000"/>
            <a:ext cx="2011680" cy="45720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auth · timer · scoring</a:t>
            </a:r>
            <a:endParaRPr lang="en-US" sz="1200" dirty="0"/>
          </a:p>
        </p:txBody>
      </p:sp>
      <p:sp>
        <p:nvSpPr>
          <p:cNvPr id="18" name="Shape 13"/>
          <p:cNvSpPr/>
          <p:nvPr/>
        </p:nvSpPr>
        <p:spPr>
          <a:xfrm>
            <a:off x="5925312" y="2331720"/>
            <a:ext cx="320040" cy="0"/>
          </a:xfrm>
          <a:prstGeom prst="line">
            <a:avLst/>
          </a:prstGeom>
          <a:noFill/>
          <a:ln w="19050">
            <a:solidFill>
              <a:schemeClr val="accent2"/>
            </a:solidFill>
            <a:prstDash val="solid"/>
            <a:tailEnd type="triangle"/>
          </a:ln>
        </p:spPr>
      </p:sp>
      <p:sp>
        <p:nvSpPr>
          <p:cNvPr id="19" name="AI engine"/>
          <p:cNvSpPr/>
          <p:nvPr/>
        </p:nvSpPr>
        <p:spPr>
          <a:xfrm>
            <a:off x="6300216" y="1828800"/>
            <a:ext cx="2377440" cy="2194560"/>
          </a:xfrm>
          <a:prstGeom prst="roundRect">
            <a:avLst>
              <a:gd name="adj" fmla="val 5000"/>
            </a:avLst>
          </a:prstGeom>
          <a:solidFill>
            <a:schemeClr val="bg1"/>
          </a:solidFill>
          <a:ln w="12700">
            <a:solidFill>
              <a:schemeClr val="accent3"/>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6300216" y="1828800"/>
            <a:ext cx="2377440" cy="1005840"/>
          </a:xfrm>
          <a:prstGeom prst="roundRect">
            <a:avLst>
              <a:gd name="adj" fmla="val 10909"/>
            </a:avLst>
          </a:prstGeom>
          <a:solidFill>
            <a:schemeClr val="tx1"/>
          </a:solidFill>
          <a:ln/>
        </p:spPr>
      </p:sp>
      <p:sp>
        <p:nvSpPr>
          <p:cNvPr id="21" name="Shape 16"/>
          <p:cNvSpPr/>
          <p:nvPr/>
        </p:nvSpPr>
        <p:spPr>
          <a:xfrm>
            <a:off x="6300216" y="2560320"/>
            <a:ext cx="2377440" cy="274320"/>
          </a:xfrm>
          <a:prstGeom prst="rect">
            <a:avLst/>
          </a:prstGeom>
          <a:solidFill>
            <a:schemeClr val="tx1"/>
          </a:solidFill>
          <a:ln/>
        </p:spPr>
      </p:sp>
      <p:pic>
        <p:nvPicPr>
          <p:cNvPr id="22" name="Image 3" descr="preencoded.png">    </p:cNvPr>
          <p:cNvPicPr>
            <a:picLocks noChangeAspect="1"/>
          </p:cNvPicPr>
          <p:nvPr/>
        </p:nvPicPr>
        <p:blipFill>
          <a:blip r:embed="rId4"/>
          <a:stretch>
            <a:fillRect/>
          </a:stretch>
        </p:blipFill>
        <p:spPr>
          <a:xfrm>
            <a:off x="7242048" y="2084832"/>
            <a:ext cx="493776" cy="493776"/>
          </a:xfrm>
          <a:prstGeom prst="rect">
            <a:avLst/>
          </a:prstGeom>
        </p:spPr>
      </p:pic>
      <p:sp>
        <p:nvSpPr>
          <p:cNvPr id="23" name="Text 17"/>
          <p:cNvSpPr txBox="1"/>
          <p:nvPr/>
        </p:nvSpPr>
        <p:spPr>
          <a:xfrm>
            <a:off x="6528816" y="2999232"/>
            <a:ext cx="201168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AI engine</a:t>
            </a:r>
            <a:endParaRPr lang="en-US" sz="1800" dirty="0"/>
          </a:p>
        </p:txBody>
      </p:sp>
      <p:sp>
        <p:nvSpPr>
          <p:cNvPr id="24" name="Text 18"/>
          <p:cNvSpPr txBox="1"/>
          <p:nvPr/>
        </p:nvSpPr>
        <p:spPr>
          <a:xfrm>
            <a:off x="6528816" y="3429000"/>
            <a:ext cx="2011680" cy="45720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generation · assistant</a:t>
            </a:r>
            <a:endParaRPr lang="en-US" sz="1200" dirty="0"/>
          </a:p>
        </p:txBody>
      </p:sp>
      <p:sp>
        <p:nvSpPr>
          <p:cNvPr id="25" name="Shape 19"/>
          <p:cNvSpPr/>
          <p:nvPr/>
        </p:nvSpPr>
        <p:spPr>
          <a:xfrm>
            <a:off x="8732520" y="2331720"/>
            <a:ext cx="320040" cy="0"/>
          </a:xfrm>
          <a:prstGeom prst="line">
            <a:avLst/>
          </a:prstGeom>
          <a:noFill/>
          <a:ln w="31750">
            <a:solidFill>
              <a:schemeClr val="accent1"/>
            </a:solidFill>
            <a:prstDash val="solid"/>
            <a:tailEnd type="triangle"/>
          </a:ln>
        </p:spPr>
      </p:sp>
      <p:sp>
        <p:nvSpPr>
          <p:cNvPr id="26" name="Featherless"/>
          <p:cNvSpPr/>
          <p:nvPr/>
        </p:nvSpPr>
        <p:spPr>
          <a:xfrm>
            <a:off x="9107424" y="1828800"/>
            <a:ext cx="2377440" cy="2194560"/>
          </a:xfrm>
          <a:prstGeom prst="roundRect">
            <a:avLst>
              <a:gd name="adj" fmla="val 5000"/>
            </a:avLst>
          </a:prstGeom>
          <a:solidFill>
            <a:schemeClr val="bg1"/>
          </a:solidFill>
          <a:ln w="12700">
            <a:solidFill>
              <a:schemeClr val="accent3"/>
            </a:solidFill>
            <a:prstDash val="solid"/>
          </a:ln>
          <a:effectLst>
            <a:outerShdw sx="100000" sy="100000" kx="0" ky="0" algn="bl" rotWithShape="0" blurRad="101600" dist="25400" dir="5400000">
              <a:srgbClr val="000000">
                <a:alpha val="12000"/>
              </a:srgbClr>
            </a:outerShdw>
          </a:effectLst>
        </p:spPr>
      </p:sp>
      <p:sp>
        <p:nvSpPr>
          <p:cNvPr id="27" name="Shape 21"/>
          <p:cNvSpPr/>
          <p:nvPr/>
        </p:nvSpPr>
        <p:spPr>
          <a:xfrm>
            <a:off x="9107424" y="1828800"/>
            <a:ext cx="2377440" cy="1005840"/>
          </a:xfrm>
          <a:prstGeom prst="roundRect">
            <a:avLst>
              <a:gd name="adj" fmla="val 10909"/>
            </a:avLst>
          </a:prstGeom>
          <a:solidFill>
            <a:schemeClr val="accent1"/>
          </a:solidFill>
          <a:ln/>
        </p:spPr>
      </p:sp>
      <p:sp>
        <p:nvSpPr>
          <p:cNvPr id="28" name="Shape 22"/>
          <p:cNvSpPr/>
          <p:nvPr/>
        </p:nvSpPr>
        <p:spPr>
          <a:xfrm>
            <a:off x="9107424" y="2560320"/>
            <a:ext cx="2377440" cy="274320"/>
          </a:xfrm>
          <a:prstGeom prst="rect">
            <a:avLst/>
          </a:prstGeom>
          <a:solidFill>
            <a:schemeClr val="accent1"/>
          </a:solidFill>
          <a:ln/>
        </p:spPr>
      </p:sp>
      <p:pic>
        <p:nvPicPr>
          <p:cNvPr id="29" name="Image 4" descr="preencoded.png">    </p:cNvPr>
          <p:cNvPicPr>
            <a:picLocks noChangeAspect="1"/>
          </p:cNvPicPr>
          <p:nvPr/>
        </p:nvPicPr>
        <p:blipFill>
          <a:blip r:embed="rId5"/>
          <a:stretch>
            <a:fillRect/>
          </a:stretch>
        </p:blipFill>
        <p:spPr>
          <a:xfrm>
            <a:off x="10049256" y="2084832"/>
            <a:ext cx="493776" cy="493776"/>
          </a:xfrm>
          <a:prstGeom prst="rect">
            <a:avLst/>
          </a:prstGeom>
        </p:spPr>
      </p:pic>
      <p:sp>
        <p:nvSpPr>
          <p:cNvPr id="30" name="Text 23"/>
          <p:cNvSpPr txBox="1"/>
          <p:nvPr/>
        </p:nvSpPr>
        <p:spPr>
          <a:xfrm>
            <a:off x="9336024" y="2999232"/>
            <a:ext cx="201168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Featherless</a:t>
            </a:r>
            <a:endParaRPr lang="en-US" sz="1800" dirty="0"/>
          </a:p>
        </p:txBody>
      </p:sp>
      <p:sp>
        <p:nvSpPr>
          <p:cNvPr id="31" name="Text 24"/>
          <p:cNvSpPr txBox="1"/>
          <p:nvPr/>
        </p:nvSpPr>
        <p:spPr>
          <a:xfrm>
            <a:off x="9336024" y="3429000"/>
            <a:ext cx="2011680" cy="45720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LLM provider</a:t>
            </a:r>
            <a:endParaRPr lang="en-US" sz="1200" dirty="0"/>
          </a:p>
        </p:txBody>
      </p:sp>
      <p:sp>
        <p:nvSpPr>
          <p:cNvPr id="32" name="Shape 25"/>
          <p:cNvSpPr/>
          <p:nvPr/>
        </p:nvSpPr>
        <p:spPr>
          <a:xfrm>
            <a:off x="4681728" y="4069080"/>
            <a:ext cx="0" cy="411480"/>
          </a:xfrm>
          <a:prstGeom prst="line">
            <a:avLst/>
          </a:prstGeom>
          <a:noFill/>
          <a:ln w="19050">
            <a:solidFill>
              <a:schemeClr val="accent2"/>
            </a:solidFill>
            <a:prstDash val="solid"/>
            <a:tailEnd type="triangle"/>
          </a:ln>
        </p:spPr>
      </p:sp>
      <p:sp>
        <p:nvSpPr>
          <p:cNvPr id="33" name="Shape 26"/>
          <p:cNvSpPr/>
          <p:nvPr/>
        </p:nvSpPr>
        <p:spPr>
          <a:xfrm>
            <a:off x="3493008" y="4526280"/>
            <a:ext cx="2377440" cy="1143000"/>
          </a:xfrm>
          <a:prstGeom prst="roundRect">
            <a:avLst>
              <a:gd name="adj" fmla="val 9600"/>
            </a:avLst>
          </a:prstGeom>
          <a:solidFill>
            <a:schemeClr val="bg2"/>
          </a:solidFill>
          <a:ln/>
        </p:spPr>
      </p:sp>
      <p:sp>
        <p:nvSpPr>
          <p:cNvPr id="34" name="Shape 27"/>
          <p:cNvSpPr/>
          <p:nvPr/>
        </p:nvSpPr>
        <p:spPr>
          <a:xfrm>
            <a:off x="3694176" y="4709160"/>
            <a:ext cx="548640" cy="548640"/>
          </a:xfrm>
          <a:prstGeom prst="ellipse">
            <a:avLst/>
          </a:prstGeom>
          <a:solidFill>
            <a:schemeClr val="tx1"/>
          </a:solidFill>
          <a:ln/>
        </p:spPr>
      </p:sp>
      <p:pic>
        <p:nvPicPr>
          <p:cNvPr id="35" name="Image 5" descr="preencoded.png">    </p:cNvPr>
          <p:cNvPicPr>
            <a:picLocks noChangeAspect="1"/>
          </p:cNvPicPr>
          <p:nvPr/>
        </p:nvPicPr>
        <p:blipFill>
          <a:blip r:embed="rId6"/>
          <a:stretch>
            <a:fillRect/>
          </a:stretch>
        </p:blipFill>
        <p:spPr>
          <a:xfrm>
            <a:off x="3842309" y="4857293"/>
            <a:ext cx="252374" cy="252374"/>
          </a:xfrm>
          <a:prstGeom prst="rect">
            <a:avLst/>
          </a:prstGeom>
        </p:spPr>
      </p:pic>
      <p:sp>
        <p:nvSpPr>
          <p:cNvPr id="36" name="Text 28"/>
          <p:cNvSpPr txBox="1"/>
          <p:nvPr/>
        </p:nvSpPr>
        <p:spPr>
          <a:xfrm>
            <a:off x="4361688" y="4681728"/>
            <a:ext cx="1463040" cy="59436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Isolated execution</a:t>
            </a:r>
            <a:endParaRPr lang="en-US" sz="1500" dirty="0"/>
          </a:p>
        </p:txBody>
      </p:sp>
      <p:sp>
        <p:nvSpPr>
          <p:cNvPr id="37" name="Text 29"/>
          <p:cNvSpPr txBox="1"/>
          <p:nvPr/>
        </p:nvSpPr>
        <p:spPr>
          <a:xfrm>
            <a:off x="4361688" y="5285232"/>
            <a:ext cx="1463040" cy="2743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grader + worker</a:t>
            </a:r>
            <a:endParaRPr lang="en-US" sz="1100" dirty="0"/>
          </a:p>
        </p:txBody>
      </p:sp>
      <p:sp>
        <p:nvSpPr>
          <p:cNvPr id="38" name="Text 30"/>
          <p:cNvSpPr txBox="1"/>
          <p:nvPr/>
        </p:nvSpPr>
        <p:spPr>
          <a:xfrm>
            <a:off x="685800" y="4572000"/>
            <a:ext cx="2286000" cy="10972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Only the backend LLM module calls Featherless, through one queue.</a:t>
            </a:r>
            <a:endParaRPr lang="en-US" sz="1400" dirty="0"/>
          </a:p>
        </p:txBody>
      </p:sp>
      <p:sp>
        <p:nvSpPr>
          <p:cNvPr id="39" name="Shape 31"/>
          <p:cNvSpPr/>
          <p:nvPr/>
        </p:nvSpPr>
        <p:spPr>
          <a:xfrm>
            <a:off x="6355080" y="4617720"/>
            <a:ext cx="91440" cy="91440"/>
          </a:xfrm>
          <a:prstGeom prst="rect">
            <a:avLst/>
          </a:prstGeom>
          <a:solidFill>
            <a:schemeClr val="accent1"/>
          </a:solidFill>
          <a:ln/>
        </p:spPr>
      </p:sp>
      <p:sp>
        <p:nvSpPr>
          <p:cNvPr id="40" name="Text 32"/>
          <p:cNvSpPr txBox="1"/>
          <p:nvPr/>
        </p:nvSpPr>
        <p:spPr>
          <a:xfrm>
            <a:off x="6583680" y="4526280"/>
            <a:ext cx="5120640" cy="27432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TypeScript + Fastify 5 + TypeBox</a:t>
            </a:r>
            <a:endParaRPr lang="en-US" sz="1500" dirty="0"/>
          </a:p>
        </p:txBody>
      </p:sp>
      <p:sp>
        <p:nvSpPr>
          <p:cNvPr id="41" name="Shape 33"/>
          <p:cNvSpPr/>
          <p:nvPr/>
        </p:nvSpPr>
        <p:spPr>
          <a:xfrm>
            <a:off x="6355080" y="4919472"/>
            <a:ext cx="91440" cy="91440"/>
          </a:xfrm>
          <a:prstGeom prst="rect">
            <a:avLst/>
          </a:prstGeom>
          <a:solidFill>
            <a:schemeClr val="accent1"/>
          </a:solidFill>
          <a:ln/>
        </p:spPr>
      </p:sp>
      <p:sp>
        <p:nvSpPr>
          <p:cNvPr id="42" name="Text 34"/>
          <p:cNvSpPr txBox="1"/>
          <p:nvPr/>
        </p:nvSpPr>
        <p:spPr>
          <a:xfrm>
            <a:off x="6583680" y="4828032"/>
            <a:ext cx="5120640" cy="27432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PostgreSQL 16 + cookie sessions</a:t>
            </a:r>
            <a:endParaRPr lang="en-US" sz="1500" dirty="0"/>
          </a:p>
        </p:txBody>
      </p:sp>
      <p:sp>
        <p:nvSpPr>
          <p:cNvPr id="43" name="Shape 35"/>
          <p:cNvSpPr/>
          <p:nvPr/>
        </p:nvSpPr>
        <p:spPr>
          <a:xfrm>
            <a:off x="6355080" y="5221224"/>
            <a:ext cx="91440" cy="91440"/>
          </a:xfrm>
          <a:prstGeom prst="rect">
            <a:avLst/>
          </a:prstGeom>
          <a:solidFill>
            <a:schemeClr val="accent1"/>
          </a:solidFill>
          <a:ln/>
        </p:spPr>
      </p:sp>
      <p:sp>
        <p:nvSpPr>
          <p:cNvPr id="44" name="Text 36"/>
          <p:cNvSpPr txBox="1"/>
          <p:nvPr/>
        </p:nvSpPr>
        <p:spPr>
          <a:xfrm>
            <a:off x="6583680" y="5129784"/>
            <a:ext cx="5120640" cy="27432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Python 3.13 + pytest + Docker</a:t>
            </a:r>
            <a:endParaRPr lang="en-US" sz="1500" dirty="0"/>
          </a:p>
        </p:txBody>
      </p:sp>
      <p:sp>
        <p:nvSpPr>
          <p:cNvPr id="45" name="Shape 37"/>
          <p:cNvSpPr/>
          <p:nvPr/>
        </p:nvSpPr>
        <p:spPr>
          <a:xfrm>
            <a:off x="6355080" y="5522976"/>
            <a:ext cx="91440" cy="91440"/>
          </a:xfrm>
          <a:prstGeom prst="rect">
            <a:avLst/>
          </a:prstGeom>
          <a:solidFill>
            <a:schemeClr val="accent1"/>
          </a:solidFill>
          <a:ln/>
        </p:spPr>
      </p:sp>
      <p:sp>
        <p:nvSpPr>
          <p:cNvPr id="46" name="Text 38"/>
          <p:cNvSpPr txBox="1"/>
          <p:nvPr/>
        </p:nvSpPr>
        <p:spPr>
          <a:xfrm>
            <a:off x="6583680" y="5431536"/>
            <a:ext cx="5120640" cy="27432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Featherless for generation and guarded assistance</a:t>
            </a:r>
            <a:endParaRPr lang="en-US" sz="1500" dirty="0"/>
          </a:p>
        </p:txBody>
      </p:sp>
      <p:sp>
        <p:nvSpPr>
          <p:cNvPr id="47" name="Text 39"/>
          <p:cNvSpPr txBox="1"/>
          <p:nvPr/>
        </p:nvSpPr>
        <p:spPr>
          <a:xfrm>
            <a:off x="6355080" y="5897880"/>
            <a:ext cx="5303520" cy="320040"/>
          </a:xfrm>
          <a:prstGeom prst="rect">
            <a:avLst/>
          </a:prstGeom>
          <a:noFill/>
          <a:ln/>
        </p:spPr>
        <p:txBody>
          <a:bodyPr wrap="square" lIns="0" tIns="0" rIns="0" bIns="0" rtlCol="0" anchor="t"/>
          <a:lstStyle/>
          <a:p>
            <a:pPr indent="0" marL="0">
              <a:buNone/>
            </a:pPr>
            <a:r>
              <a:rPr lang="en-US" sz="1400" i="1" dirty="0">
                <a:solidFill>
                  <a:schemeClr val="accent2"/>
                </a:solidFill>
                <a:latin typeface="Arial" pitchFamily="34" charset="0"/>
                <a:ea typeface="Arial" pitchFamily="34" charset="-122"/>
                <a:cs typeface="Arial" pitchFamily="34" charset="-120"/>
              </a:rPr>
              <a:t>Frontend and cloud deployment: final verification in progress</a:t>
            </a:r>
            <a:endParaRPr lang="en-US" sz="14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tx1"/>
                </a:solidFill>
              </a:rPr>
              <a:t>Integrity and limits</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tx2"/>
                </a:solidFill>
              </a:rPr>
              <a:t>What we assess — and what we don't claim</a:t>
            </a:r>
            <a:endParaRPr lang="en-US" sz="1700" dirty="0"/>
          </a:p>
        </p:txBody>
      </p:sp>
      <p:sp>
        <p:nvSpPr>
          <p:cNvPr id="4" name="Shape 2"/>
          <p:cNvSpPr/>
          <p:nvPr/>
        </p:nvSpPr>
        <p:spPr>
          <a:xfrm>
            <a:off x="685800" y="1965960"/>
            <a:ext cx="685800" cy="685800"/>
          </a:xfrm>
          <a:prstGeom prst="ellipse">
            <a:avLst/>
          </a:prstGeom>
          <a:solidFill>
            <a:schemeClr val="tx1"/>
          </a:solidFill>
          <a:ln/>
        </p:spPr>
      </p:sp>
      <p:pic>
        <p:nvPicPr>
          <p:cNvPr id="5" name="Image 0" descr="preencoded.png">    </p:cNvPr>
          <p:cNvPicPr>
            <a:picLocks noChangeAspect="1"/>
          </p:cNvPicPr>
          <p:nvPr/>
        </p:nvPicPr>
        <p:blipFill>
          <a:blip r:embed="rId1"/>
          <a:stretch>
            <a:fillRect/>
          </a:stretch>
        </p:blipFill>
        <p:spPr>
          <a:xfrm>
            <a:off x="870966" y="2151126"/>
            <a:ext cx="315468" cy="315468"/>
          </a:xfrm>
          <a:prstGeom prst="rect">
            <a:avLst/>
          </a:prstGeom>
        </p:spPr>
      </p:pic>
      <p:sp>
        <p:nvSpPr>
          <p:cNvPr id="6" name="Text 3"/>
          <p:cNvSpPr txBox="1"/>
          <p:nvPr/>
        </p:nvSpPr>
        <p:spPr>
          <a:xfrm>
            <a:off x="685800" y="2834640"/>
            <a:ext cx="3200400" cy="91440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Portfolio skills assessed; project authorship not established.</a:t>
            </a:r>
            <a:endParaRPr lang="en-US" sz="1600" dirty="0"/>
          </a:p>
        </p:txBody>
      </p:sp>
      <p:sp>
        <p:nvSpPr>
          <p:cNvPr id="7" name="Shape 4"/>
          <p:cNvSpPr/>
          <p:nvPr/>
        </p:nvSpPr>
        <p:spPr>
          <a:xfrm>
            <a:off x="4297680" y="1965960"/>
            <a:ext cx="685800" cy="685800"/>
          </a:xfrm>
          <a:prstGeom prst="ellipse">
            <a:avLst/>
          </a:prstGeom>
          <a:solidFill>
            <a:schemeClr val="tx1"/>
          </a:solidFill>
          <a:ln/>
        </p:spPr>
      </p:sp>
      <p:pic>
        <p:nvPicPr>
          <p:cNvPr id="8" name="Image 1" descr="preencoded.png">    </p:cNvPr>
          <p:cNvPicPr>
            <a:picLocks noChangeAspect="1"/>
          </p:cNvPicPr>
          <p:nvPr/>
        </p:nvPicPr>
        <p:blipFill>
          <a:blip r:embed="rId2"/>
          <a:stretch>
            <a:fillRect/>
          </a:stretch>
        </p:blipFill>
        <p:spPr>
          <a:xfrm>
            <a:off x="4482846" y="2151126"/>
            <a:ext cx="315468" cy="315468"/>
          </a:xfrm>
          <a:prstGeom prst="rect">
            <a:avLst/>
          </a:prstGeom>
        </p:spPr>
      </p:pic>
      <p:sp>
        <p:nvSpPr>
          <p:cNvPr id="9" name="Text 5"/>
          <p:cNvSpPr txBox="1"/>
          <p:nvPr/>
        </p:nvSpPr>
        <p:spPr>
          <a:xfrm>
            <a:off x="4297680" y="2834640"/>
            <a:ext cx="3200400" cy="91440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Tab switches and copy/paste are signals, not cheating verdicts.</a:t>
            </a:r>
            <a:endParaRPr lang="en-US" sz="1600" dirty="0"/>
          </a:p>
        </p:txBody>
      </p:sp>
      <p:sp>
        <p:nvSpPr>
          <p:cNvPr id="10" name="Shape 6"/>
          <p:cNvSpPr/>
          <p:nvPr/>
        </p:nvSpPr>
        <p:spPr>
          <a:xfrm>
            <a:off x="685800" y="4023360"/>
            <a:ext cx="685800" cy="685800"/>
          </a:xfrm>
          <a:prstGeom prst="ellipse">
            <a:avLst/>
          </a:prstGeom>
          <a:solidFill>
            <a:schemeClr val="tx1"/>
          </a:solidFill>
          <a:ln/>
        </p:spPr>
      </p:sp>
      <p:pic>
        <p:nvPicPr>
          <p:cNvPr id="11" name="Image 2" descr="preencoded.png">    </p:cNvPr>
          <p:cNvPicPr>
            <a:picLocks noChangeAspect="1"/>
          </p:cNvPicPr>
          <p:nvPr/>
        </p:nvPicPr>
        <p:blipFill>
          <a:blip r:embed="rId3"/>
          <a:stretch>
            <a:fillRect/>
          </a:stretch>
        </p:blipFill>
        <p:spPr>
          <a:xfrm>
            <a:off x="870966" y="4208526"/>
            <a:ext cx="315468" cy="315468"/>
          </a:xfrm>
          <a:prstGeom prst="rect">
            <a:avLst/>
          </a:prstGeom>
        </p:spPr>
      </p:pic>
      <p:sp>
        <p:nvSpPr>
          <p:cNvPr id="12" name="Text 7"/>
          <p:cNvSpPr txBox="1"/>
          <p:nvPr/>
        </p:nvSpPr>
        <p:spPr>
          <a:xfrm>
            <a:off x="685800" y="4892040"/>
            <a:ext cx="3200400" cy="91440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Second-device AI use cannot be prevented.</a:t>
            </a:r>
            <a:endParaRPr lang="en-US" sz="1600" dirty="0"/>
          </a:p>
        </p:txBody>
      </p:sp>
      <p:sp>
        <p:nvSpPr>
          <p:cNvPr id="13" name="Shape 8"/>
          <p:cNvSpPr/>
          <p:nvPr/>
        </p:nvSpPr>
        <p:spPr>
          <a:xfrm>
            <a:off x="4297680" y="4023360"/>
            <a:ext cx="685800" cy="68580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4482846" y="4208526"/>
            <a:ext cx="315468" cy="315468"/>
          </a:xfrm>
          <a:prstGeom prst="rect">
            <a:avLst/>
          </a:prstGeom>
        </p:spPr>
      </p:pic>
      <p:sp>
        <p:nvSpPr>
          <p:cNvPr id="15" name="Text 9"/>
          <p:cNvSpPr txBox="1"/>
          <p:nvPr/>
        </p:nvSpPr>
        <p:spPr>
          <a:xfrm>
            <a:off x="4297680" y="4892040"/>
            <a:ext cx="3200400" cy="91440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Future scope: repository-based tasks and camera proctoring.</a:t>
            </a:r>
            <a:endParaRPr lang="en-US" sz="1600" dirty="0"/>
          </a:p>
        </p:txBody>
      </p:sp>
      <p:sp>
        <p:nvSpPr>
          <p:cNvPr id="16" name="Shape 10"/>
          <p:cNvSpPr/>
          <p:nvPr/>
        </p:nvSpPr>
        <p:spPr>
          <a:xfrm>
            <a:off x="8138160" y="0"/>
            <a:ext cx="4053535" cy="3429000"/>
          </a:xfrm>
          <a:prstGeom prst="rect">
            <a:avLst/>
          </a:prstGeom>
          <a:solidFill>
            <a:schemeClr val="accent4"/>
          </a:solidFill>
          <a:ln/>
        </p:spPr>
      </p:sp>
      <p:sp>
        <p:nvSpPr>
          <p:cNvPr id="17" name="Shape 11"/>
          <p:cNvSpPr/>
          <p:nvPr/>
        </p:nvSpPr>
        <p:spPr>
          <a:xfrm>
            <a:off x="8138160" y="3429000"/>
            <a:ext cx="4053535" cy="3429000"/>
          </a:xfrm>
          <a:prstGeom prst="rect">
            <a:avLst/>
          </a:prstGeom>
          <a:solidFill>
            <a:schemeClr val="tx2"/>
          </a:solidFill>
          <a:ln/>
        </p:spPr>
      </p:sp>
      <p:sp>
        <p:nvSpPr>
          <p:cNvPr id="18" name="Text 12"/>
          <p:cNvSpPr txBox="1"/>
          <p:nvPr/>
        </p:nvSpPr>
        <p:spPr>
          <a:xfrm>
            <a:off x="8595360" y="914400"/>
            <a:ext cx="1371600" cy="594360"/>
          </a:xfrm>
          <a:prstGeom prst="rect">
            <a:avLst/>
          </a:prstGeom>
          <a:noFill/>
          <a:ln/>
        </p:spPr>
        <p:txBody>
          <a:bodyPr wrap="square" lIns="0" tIns="0" rIns="0" bIns="0" rtlCol="0" anchor="t"/>
          <a:lstStyle/>
          <a:p>
            <a:pPr indent="0" marL="0">
              <a:buNone/>
            </a:pPr>
            <a:r>
              <a:rPr lang="en-US" sz="3400" b="1" dirty="0">
                <a:solidFill>
                  <a:schemeClr val="accent1"/>
                </a:solidFill>
                <a:latin typeface="Arial" pitchFamily="34" charset="0"/>
                <a:ea typeface="Arial" pitchFamily="34" charset="-122"/>
                <a:cs typeface="Arial" pitchFamily="34" charset="-120"/>
              </a:rPr>
              <a:t>01</a:t>
            </a:r>
            <a:endParaRPr lang="en-US" sz="3400" dirty="0"/>
          </a:p>
        </p:txBody>
      </p:sp>
      <p:sp>
        <p:nvSpPr>
          <p:cNvPr id="19" name="Text 13"/>
          <p:cNvSpPr txBox="1"/>
          <p:nvPr/>
        </p:nvSpPr>
        <p:spPr>
          <a:xfrm>
            <a:off x="8595360" y="1600200"/>
            <a:ext cx="3200400" cy="411480"/>
          </a:xfrm>
          <a:prstGeom prst="rect">
            <a:avLst/>
          </a:prstGeom>
          <a:noFill/>
          <a:ln/>
        </p:spPr>
        <p:txBody>
          <a:bodyPr wrap="square" lIns="0" tIns="0" rIns="0" bIns="0" rtlCol="0" anchor="t"/>
          <a:lstStyle/>
          <a:p>
            <a:pPr indent="0" marL="0">
              <a:buNone/>
            </a:pPr>
            <a:r>
              <a:rPr lang="en-US" sz="2100" b="1" dirty="0">
                <a:solidFill>
                  <a:schemeClr val="bg1"/>
                </a:solidFill>
                <a:latin typeface="Arial" pitchFamily="34" charset="0"/>
                <a:ea typeface="Arial" pitchFamily="34" charset="-122"/>
                <a:cs typeface="Arial" pitchFamily="34" charset="-120"/>
              </a:rPr>
              <a:t>Assessed</a:t>
            </a:r>
            <a:endParaRPr lang="en-US" sz="2100" dirty="0"/>
          </a:p>
        </p:txBody>
      </p:sp>
      <p:sp>
        <p:nvSpPr>
          <p:cNvPr id="20" name="Text 14"/>
          <p:cNvSpPr txBox="1"/>
          <p:nvPr/>
        </p:nvSpPr>
        <p:spPr>
          <a:xfrm>
            <a:off x="8595360" y="2103120"/>
            <a:ext cx="3200400" cy="685800"/>
          </a:xfrm>
          <a:prstGeom prst="rect">
            <a:avLst/>
          </a:prstGeom>
          <a:noFill/>
          <a:ln/>
        </p:spPr>
        <p:txBody>
          <a:bodyPr wrap="square" lIns="0" tIns="0" rIns="0" bIns="0" rtlCol="0" anchor="t"/>
          <a:lstStyle/>
          <a:p>
            <a:pPr indent="0" marL="0">
              <a:buNone/>
            </a:pPr>
            <a:r>
              <a:rPr lang="en-US" sz="1500" dirty="0">
                <a:solidFill>
                  <a:schemeClr val="accent3"/>
                </a:solidFill>
                <a:latin typeface="Arial" pitchFamily="34" charset="0"/>
                <a:ea typeface="Arial" pitchFamily="34" charset="-122"/>
                <a:cs typeface="Arial" pitchFamily="34" charset="-120"/>
              </a:rPr>
              <a:t>Task results · time · AI use</a:t>
            </a:r>
            <a:endParaRPr lang="en-US" sz="1500" dirty="0"/>
          </a:p>
        </p:txBody>
      </p:sp>
      <p:sp>
        <p:nvSpPr>
          <p:cNvPr id="21" name="Text 15"/>
          <p:cNvSpPr txBox="1"/>
          <p:nvPr/>
        </p:nvSpPr>
        <p:spPr>
          <a:xfrm>
            <a:off x="8595360" y="4343400"/>
            <a:ext cx="1371600" cy="594360"/>
          </a:xfrm>
          <a:prstGeom prst="rect">
            <a:avLst/>
          </a:prstGeom>
          <a:noFill/>
          <a:ln/>
        </p:spPr>
        <p:txBody>
          <a:bodyPr wrap="square" lIns="0" tIns="0" rIns="0" bIns="0" rtlCol="0" anchor="t"/>
          <a:lstStyle/>
          <a:p>
            <a:pPr indent="0" marL="0">
              <a:buNone/>
            </a:pPr>
            <a:r>
              <a:rPr lang="en-US" sz="3400" b="1" dirty="0">
                <a:solidFill>
                  <a:schemeClr val="accent3"/>
                </a:solidFill>
                <a:latin typeface="Arial" pitchFamily="34" charset="0"/>
                <a:ea typeface="Arial" pitchFamily="34" charset="-122"/>
                <a:cs typeface="Arial" pitchFamily="34" charset="-120"/>
              </a:rPr>
              <a:t>02</a:t>
            </a:r>
            <a:endParaRPr lang="en-US" sz="3400" dirty="0"/>
          </a:p>
        </p:txBody>
      </p:sp>
      <p:sp>
        <p:nvSpPr>
          <p:cNvPr id="22" name="Text 16"/>
          <p:cNvSpPr txBox="1"/>
          <p:nvPr/>
        </p:nvSpPr>
        <p:spPr>
          <a:xfrm>
            <a:off x="8595360" y="5029200"/>
            <a:ext cx="3200400" cy="411480"/>
          </a:xfrm>
          <a:prstGeom prst="rect">
            <a:avLst/>
          </a:prstGeom>
          <a:noFill/>
          <a:ln/>
        </p:spPr>
        <p:txBody>
          <a:bodyPr wrap="square" lIns="0" tIns="0" rIns="0" bIns="0" rtlCol="0" anchor="t"/>
          <a:lstStyle/>
          <a:p>
            <a:pPr indent="0" marL="0">
              <a:buNone/>
            </a:pPr>
            <a:r>
              <a:rPr lang="en-US" sz="2100" b="1" dirty="0">
                <a:solidFill>
                  <a:schemeClr val="bg1"/>
                </a:solidFill>
                <a:latin typeface="Arial" pitchFamily="34" charset="0"/>
                <a:ea typeface="Arial" pitchFamily="34" charset="-122"/>
                <a:cs typeface="Arial" pitchFamily="34" charset="-120"/>
              </a:rPr>
              <a:t>Not established</a:t>
            </a:r>
            <a:endParaRPr lang="en-US" sz="2100" dirty="0"/>
          </a:p>
        </p:txBody>
      </p:sp>
      <p:sp>
        <p:nvSpPr>
          <p:cNvPr id="23" name="Text 17"/>
          <p:cNvSpPr txBox="1"/>
          <p:nvPr/>
        </p:nvSpPr>
        <p:spPr>
          <a:xfrm>
            <a:off x="8595360" y="5532120"/>
            <a:ext cx="3200400" cy="685800"/>
          </a:xfrm>
          <a:prstGeom prst="rect">
            <a:avLst/>
          </a:prstGeom>
          <a:noFill/>
          <a:ln/>
        </p:spPr>
        <p:txBody>
          <a:bodyPr wrap="square" lIns="0" tIns="0" rIns="0" bIns="0" rtlCol="0" anchor="t"/>
          <a:lstStyle/>
          <a:p>
            <a:pPr indent="0" marL="0">
              <a:buNone/>
            </a:pPr>
            <a:r>
              <a:rPr lang="en-US" sz="1500" dirty="0">
                <a:solidFill>
                  <a:schemeClr val="accent3"/>
                </a:solidFill>
                <a:latin typeface="Arial" pitchFamily="34" charset="0"/>
                <a:ea typeface="Arial" pitchFamily="34" charset="-122"/>
                <a:cs typeface="Arial" pitchFamily="34" charset="-120"/>
              </a:rPr>
              <a:t>Project authorship · second-device activity</a:t>
            </a:r>
            <a:endParaRPr lang="en-US" sz="15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bg1"/>
                </a:solidFill>
              </a:rPr>
              <a:t>Team PAARK</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accent3"/>
                </a:solidFill>
              </a:rPr>
              <a:t>Five builders, one 24-hour sprint</a:t>
            </a:r>
            <a:endParaRPr lang="en-US" sz="1700" dirty="0"/>
          </a:p>
        </p:txBody>
      </p:sp>
      <p:pic>
        <p:nvPicPr>
          <p:cNvPr id="4" name="Image 0" descr="preencoded.png">    </p:cNvPr>
          <p:cNvPicPr>
            <a:picLocks noChangeAspect="1"/>
          </p:cNvPicPr>
          <p:nvPr/>
        </p:nvPicPr>
        <p:blipFill>
          <a:blip r:embed="rId1"/>
          <a:stretch>
            <a:fillRect/>
          </a:stretch>
        </p:blipFill>
        <p:spPr>
          <a:xfrm>
            <a:off x="8531352" y="0"/>
            <a:ext cx="3657600" cy="3657600"/>
          </a:xfrm>
          <a:prstGeom prst="rect">
            <a:avLst/>
          </a:prstGeom>
        </p:spPr>
      </p:pic>
      <p:sp>
        <p:nvSpPr>
          <p:cNvPr id="5" name="Shape 2"/>
          <p:cNvSpPr/>
          <p:nvPr/>
        </p:nvSpPr>
        <p:spPr>
          <a:xfrm>
            <a:off x="0" y="4069080"/>
            <a:ext cx="12191695" cy="2788920"/>
          </a:xfrm>
          <a:prstGeom prst="rect">
            <a:avLst/>
          </a:prstGeom>
          <a:solidFill>
            <a:schemeClr val="bg1"/>
          </a:solidFill>
          <a:ln/>
        </p:spPr>
      </p:sp>
      <p:sp>
        <p:nvSpPr>
          <p:cNvPr id="6" name="Shape 3"/>
          <p:cNvSpPr/>
          <p:nvPr/>
        </p:nvSpPr>
        <p:spPr>
          <a:xfrm>
            <a:off x="685800" y="2057400"/>
            <a:ext cx="1463040" cy="1463040"/>
          </a:xfrm>
          <a:prstGeom prst="ellipse">
            <a:avLst/>
          </a:prstGeom>
          <a:solidFill>
            <a:schemeClr val="accent4"/>
          </a:solidFill>
          <a:ln w="22225">
            <a:solidFill>
              <a:schemeClr val="accent1"/>
            </a:solidFill>
            <a:prstDash val="solid"/>
          </a:ln>
        </p:spPr>
      </p:sp>
      <p:sp>
        <p:nvSpPr>
          <p:cNvPr id="7" name="Text 4"/>
          <p:cNvSpPr txBox="1"/>
          <p:nvPr/>
        </p:nvSpPr>
        <p:spPr>
          <a:xfrm>
            <a:off x="685800" y="2057400"/>
            <a:ext cx="1463040" cy="1463040"/>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P</a:t>
            </a:r>
            <a:endParaRPr lang="en-US" sz="3600" dirty="0"/>
          </a:p>
        </p:txBody>
      </p:sp>
      <p:sp>
        <p:nvSpPr>
          <p:cNvPr id="8" name="Text 5"/>
          <p:cNvSpPr txBox="1"/>
          <p:nvPr/>
        </p:nvSpPr>
        <p:spPr>
          <a:xfrm>
            <a:off x="685800" y="4526280"/>
            <a:ext cx="2029968"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Pranav</a:t>
            </a:r>
            <a:endParaRPr lang="en-US" sz="2000" dirty="0"/>
          </a:p>
        </p:txBody>
      </p:sp>
      <p:sp>
        <p:nvSpPr>
          <p:cNvPr id="9" name="Text 6"/>
          <p:cNvSpPr txBox="1"/>
          <p:nvPr/>
        </p:nvSpPr>
        <p:spPr>
          <a:xfrm>
            <a:off x="685800" y="4983480"/>
            <a:ext cx="1938528"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Lead · intake, scoring and reporting</a:t>
            </a:r>
            <a:endParaRPr lang="en-US" sz="1500" dirty="0"/>
          </a:p>
        </p:txBody>
      </p:sp>
      <p:sp>
        <p:nvSpPr>
          <p:cNvPr id="10" name="Shape 7"/>
          <p:cNvSpPr/>
          <p:nvPr/>
        </p:nvSpPr>
        <p:spPr>
          <a:xfrm>
            <a:off x="2898648" y="2057400"/>
            <a:ext cx="1463040" cy="1463040"/>
          </a:xfrm>
          <a:prstGeom prst="ellipse">
            <a:avLst/>
          </a:prstGeom>
          <a:solidFill>
            <a:schemeClr val="accent4"/>
          </a:solidFill>
          <a:ln w="22225">
            <a:solidFill>
              <a:schemeClr val="accent3"/>
            </a:solidFill>
            <a:prstDash val="solid"/>
          </a:ln>
        </p:spPr>
      </p:sp>
      <p:sp>
        <p:nvSpPr>
          <p:cNvPr id="11" name="Text 8"/>
          <p:cNvSpPr txBox="1"/>
          <p:nvPr/>
        </p:nvSpPr>
        <p:spPr>
          <a:xfrm>
            <a:off x="2898648" y="2057400"/>
            <a:ext cx="1463040" cy="1463040"/>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K</a:t>
            </a:r>
            <a:endParaRPr lang="en-US" sz="3600" dirty="0"/>
          </a:p>
        </p:txBody>
      </p:sp>
      <p:sp>
        <p:nvSpPr>
          <p:cNvPr id="12" name="Text 9"/>
          <p:cNvSpPr txBox="1"/>
          <p:nvPr/>
        </p:nvSpPr>
        <p:spPr>
          <a:xfrm>
            <a:off x="2898648" y="4526280"/>
            <a:ext cx="2029968"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Karthik</a:t>
            </a:r>
            <a:endParaRPr lang="en-US" sz="2000" dirty="0"/>
          </a:p>
        </p:txBody>
      </p:sp>
      <p:sp>
        <p:nvSpPr>
          <p:cNvPr id="13" name="Text 10"/>
          <p:cNvSpPr txBox="1"/>
          <p:nvPr/>
        </p:nvSpPr>
        <p:spPr>
          <a:xfrm>
            <a:off x="2898648" y="4983480"/>
            <a:ext cx="1938528"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Backend lead</a:t>
            </a:r>
            <a:endParaRPr lang="en-US" sz="1500" dirty="0"/>
          </a:p>
        </p:txBody>
      </p:sp>
      <p:sp>
        <p:nvSpPr>
          <p:cNvPr id="14" name="Shape 11"/>
          <p:cNvSpPr/>
          <p:nvPr/>
        </p:nvSpPr>
        <p:spPr>
          <a:xfrm>
            <a:off x="5111496" y="2057400"/>
            <a:ext cx="1463040" cy="1463040"/>
          </a:xfrm>
          <a:prstGeom prst="ellipse">
            <a:avLst/>
          </a:prstGeom>
          <a:solidFill>
            <a:schemeClr val="accent4"/>
          </a:solidFill>
          <a:ln w="22225">
            <a:solidFill>
              <a:schemeClr val="accent1"/>
            </a:solidFill>
            <a:prstDash val="solid"/>
          </a:ln>
        </p:spPr>
      </p:sp>
      <p:sp>
        <p:nvSpPr>
          <p:cNvPr id="15" name="Text 12"/>
          <p:cNvSpPr txBox="1"/>
          <p:nvPr/>
        </p:nvSpPr>
        <p:spPr>
          <a:xfrm>
            <a:off x="5111496" y="2057400"/>
            <a:ext cx="1463040" cy="1463040"/>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R</a:t>
            </a:r>
            <a:endParaRPr lang="en-US" sz="3600" dirty="0"/>
          </a:p>
        </p:txBody>
      </p:sp>
      <p:sp>
        <p:nvSpPr>
          <p:cNvPr id="16" name="Text 13"/>
          <p:cNvSpPr txBox="1"/>
          <p:nvPr/>
        </p:nvSpPr>
        <p:spPr>
          <a:xfrm>
            <a:off x="5111496" y="4526280"/>
            <a:ext cx="2029968"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Rithvik</a:t>
            </a:r>
            <a:endParaRPr lang="en-US" sz="2000" dirty="0"/>
          </a:p>
        </p:txBody>
      </p:sp>
      <p:sp>
        <p:nvSpPr>
          <p:cNvPr id="17" name="Text 14"/>
          <p:cNvSpPr txBox="1"/>
          <p:nvPr/>
        </p:nvSpPr>
        <p:spPr>
          <a:xfrm>
            <a:off x="5111496" y="4983480"/>
            <a:ext cx="1938528"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Sandbox, AI and deployment</a:t>
            </a:r>
            <a:endParaRPr lang="en-US" sz="1500" dirty="0"/>
          </a:p>
        </p:txBody>
      </p:sp>
      <p:sp>
        <p:nvSpPr>
          <p:cNvPr id="18" name="Shape 15"/>
          <p:cNvSpPr/>
          <p:nvPr/>
        </p:nvSpPr>
        <p:spPr>
          <a:xfrm>
            <a:off x="7324344" y="2057400"/>
            <a:ext cx="1463040" cy="1463040"/>
          </a:xfrm>
          <a:prstGeom prst="ellipse">
            <a:avLst/>
          </a:prstGeom>
          <a:solidFill>
            <a:schemeClr val="accent4"/>
          </a:solidFill>
          <a:ln w="22225">
            <a:solidFill>
              <a:schemeClr val="accent3"/>
            </a:solidFill>
            <a:prstDash val="solid"/>
          </a:ln>
        </p:spPr>
      </p:sp>
      <p:sp>
        <p:nvSpPr>
          <p:cNvPr id="19" name="Text 16"/>
          <p:cNvSpPr txBox="1"/>
          <p:nvPr/>
        </p:nvSpPr>
        <p:spPr>
          <a:xfrm>
            <a:off x="7324344" y="2057400"/>
            <a:ext cx="1463040" cy="1463040"/>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A</a:t>
            </a:r>
            <a:endParaRPr lang="en-US" sz="3600" dirty="0"/>
          </a:p>
        </p:txBody>
      </p:sp>
      <p:sp>
        <p:nvSpPr>
          <p:cNvPr id="20" name="Text 17"/>
          <p:cNvSpPr txBox="1"/>
          <p:nvPr/>
        </p:nvSpPr>
        <p:spPr>
          <a:xfrm>
            <a:off x="7324344" y="4526280"/>
            <a:ext cx="2029968"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Akshit</a:t>
            </a:r>
            <a:endParaRPr lang="en-US" sz="2000" dirty="0"/>
          </a:p>
        </p:txBody>
      </p:sp>
      <p:sp>
        <p:nvSpPr>
          <p:cNvPr id="21" name="Text 18"/>
          <p:cNvSpPr txBox="1"/>
          <p:nvPr/>
        </p:nvSpPr>
        <p:spPr>
          <a:xfrm>
            <a:off x="7324344" y="4983480"/>
            <a:ext cx="1938528"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Frontend</a:t>
            </a:r>
            <a:endParaRPr lang="en-US" sz="1500" dirty="0"/>
          </a:p>
        </p:txBody>
      </p:sp>
      <p:sp>
        <p:nvSpPr>
          <p:cNvPr id="22" name="Shape 19"/>
          <p:cNvSpPr/>
          <p:nvPr/>
        </p:nvSpPr>
        <p:spPr>
          <a:xfrm>
            <a:off x="9537192" y="2057400"/>
            <a:ext cx="1463040" cy="1463040"/>
          </a:xfrm>
          <a:prstGeom prst="ellipse">
            <a:avLst/>
          </a:prstGeom>
          <a:solidFill>
            <a:schemeClr val="accent4"/>
          </a:solidFill>
          <a:ln w="22225">
            <a:solidFill>
              <a:schemeClr val="accent1"/>
            </a:solidFill>
            <a:prstDash val="solid"/>
          </a:ln>
        </p:spPr>
      </p:sp>
      <p:sp>
        <p:nvSpPr>
          <p:cNvPr id="23" name="Text 20"/>
          <p:cNvSpPr txBox="1"/>
          <p:nvPr/>
        </p:nvSpPr>
        <p:spPr>
          <a:xfrm>
            <a:off x="9537192" y="2057400"/>
            <a:ext cx="1463040" cy="1463040"/>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A</a:t>
            </a:r>
            <a:endParaRPr lang="en-US" sz="3600" dirty="0"/>
          </a:p>
        </p:txBody>
      </p:sp>
      <p:sp>
        <p:nvSpPr>
          <p:cNvPr id="24" name="Text 21"/>
          <p:cNvSpPr txBox="1"/>
          <p:nvPr/>
        </p:nvSpPr>
        <p:spPr>
          <a:xfrm>
            <a:off x="9537192" y="4526280"/>
            <a:ext cx="2029968"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Aryan</a:t>
            </a:r>
            <a:endParaRPr lang="en-US" sz="2000" dirty="0"/>
          </a:p>
        </p:txBody>
      </p:sp>
      <p:sp>
        <p:nvSpPr>
          <p:cNvPr id="25" name="Text 22"/>
          <p:cNvSpPr txBox="1"/>
          <p:nvPr/>
        </p:nvSpPr>
        <p:spPr>
          <a:xfrm>
            <a:off x="9537192" y="4983480"/>
            <a:ext cx="1938528" cy="7315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Seed tasks, pitch and presentation</a:t>
            </a:r>
            <a:endParaRPr lang="en-US" sz="15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Wire-ring artwork">    </p:cNvPr>
          <p:cNvPicPr>
            <a:picLocks noChangeAspect="1"/>
          </p:cNvPicPr>
          <p:nvPr/>
        </p:nvPicPr>
        <p:blipFill>
          <a:blip r:embed="rId1"/>
          <a:stretch>
            <a:fillRect/>
          </a:stretch>
        </p:blipFill>
        <p:spPr>
          <a:xfrm>
            <a:off x="5806440" y="228600"/>
            <a:ext cx="6400800" cy="6400800"/>
          </a:xfrm>
          <a:prstGeom prst="rect">
            <a:avLst/>
          </a:prstGeom>
        </p:spPr>
      </p:pic>
      <p:sp>
        <p:nvSpPr>
          <p:cNvPr id="3" name="Text 0"/>
          <p:cNvSpPr txBox="1"/>
          <p:nvPr/>
        </p:nvSpPr>
        <p:spPr>
          <a:xfrm>
            <a:off x="731520" y="2011680"/>
            <a:ext cx="5486400" cy="914400"/>
          </a:xfrm>
          <a:prstGeom prst="rect">
            <a:avLst/>
          </a:prstGeom>
          <a:noFill/>
          <a:ln/>
        </p:spPr>
        <p:txBody>
          <a:bodyPr wrap="square" lIns="0" tIns="0" rIns="0" bIns="0" rtlCol="0" anchor="t"/>
          <a:lstStyle/>
          <a:p>
            <a:pPr indent="0" marL="0">
              <a:buNone/>
            </a:pPr>
            <a:r>
              <a:rPr lang="en-US" sz="5400" b="1" dirty="0">
                <a:solidFill>
                  <a:schemeClr val="bg1"/>
                </a:solidFill>
                <a:latin typeface="Arial" pitchFamily="34" charset="0"/>
                <a:ea typeface="Arial" pitchFamily="34" charset="-122"/>
                <a:cs typeface="Arial" pitchFamily="34" charset="-120"/>
              </a:rPr>
              <a:t>Thank you!</a:t>
            </a:r>
            <a:endParaRPr lang="en-US" sz="5400" dirty="0"/>
          </a:p>
        </p:txBody>
      </p:sp>
      <p:sp>
        <p:nvSpPr>
          <p:cNvPr id="4" name="Text 1"/>
          <p:cNvSpPr txBox="1"/>
          <p:nvPr/>
        </p:nvSpPr>
        <p:spPr>
          <a:xfrm>
            <a:off x="777240" y="3063240"/>
            <a:ext cx="5486400" cy="502920"/>
          </a:xfrm>
          <a:prstGeom prst="rect">
            <a:avLst/>
          </a:prstGeom>
          <a:noFill/>
          <a:ln/>
        </p:spPr>
        <p:txBody>
          <a:bodyPr wrap="square" lIns="0" tIns="0" rIns="0" bIns="0" rtlCol="0" anchor="t"/>
          <a:lstStyle/>
          <a:p>
            <a:pPr indent="0" marL="0">
              <a:buNone/>
            </a:pPr>
            <a:r>
              <a:rPr lang="en-US" sz="2600" dirty="0">
                <a:solidFill>
                  <a:schemeClr val="accent1"/>
                </a:solidFill>
                <a:latin typeface="Arial" pitchFamily="34" charset="0"/>
                <a:ea typeface="Arial" pitchFamily="34" charset="-122"/>
                <a:cs typeface="Arial" pitchFamily="34" charset="-120"/>
              </a:rPr>
              <a:t>Put your code under torque.</a:t>
            </a:r>
            <a:endParaRPr lang="en-US" sz="2600" dirty="0"/>
          </a:p>
        </p:txBody>
      </p:sp>
      <p:sp>
        <p:nvSpPr>
          <p:cNvPr id="5" name="Text 2"/>
          <p:cNvSpPr txBox="1"/>
          <p:nvPr/>
        </p:nvSpPr>
        <p:spPr>
          <a:xfrm>
            <a:off x="777240" y="3840480"/>
            <a:ext cx="4754880" cy="822960"/>
          </a:xfrm>
          <a:prstGeom prst="rect">
            <a:avLst/>
          </a:prstGeom>
          <a:noFill/>
          <a:ln/>
        </p:spPr>
        <p:txBody>
          <a:bodyPr wrap="square" lIns="0" tIns="0" rIns="0" bIns="0" rtlCol="0" anchor="t"/>
          <a:lstStyle/>
          <a:p>
            <a:pPr indent="0" marL="0">
              <a:buNone/>
            </a:pPr>
            <a:r>
              <a:rPr lang="en-US" sz="1600" dirty="0">
                <a:solidFill>
                  <a:schemeClr val="accent3"/>
                </a:solidFill>
                <a:latin typeface="Arial" pitchFamily="34" charset="0"/>
                <a:ea typeface="Arial" pitchFamily="34" charset="-122"/>
                <a:cs typeface="Arial" pitchFamily="34" charset="-120"/>
              </a:rPr>
              <a:t>Every grade comes from tests, not an LLM's opinion. We'd love your questions.</a:t>
            </a:r>
            <a:endParaRPr lang="en-US" sz="1600" dirty="0"/>
          </a:p>
        </p:txBody>
      </p:sp>
      <p:sp>
        <p:nvSpPr>
          <p:cNvPr id="6" name="Shape 3"/>
          <p:cNvSpPr/>
          <p:nvPr/>
        </p:nvSpPr>
        <p:spPr>
          <a:xfrm>
            <a:off x="777240" y="5532120"/>
            <a:ext cx="2743200" cy="347472"/>
          </a:xfrm>
          <a:prstGeom prst="roundRect">
            <a:avLst>
              <a:gd name="adj" fmla="val 50000"/>
            </a:avLst>
          </a:prstGeom>
          <a:ln w="12700">
            <a:solidFill>
              <a:schemeClr val="accent2"/>
            </a:solidFill>
            <a:prstDash val="solid"/>
          </a:ln>
        </p:spPr>
      </p:sp>
      <p:sp>
        <p:nvSpPr>
          <p:cNvPr id="7" name="Text 4"/>
          <p:cNvSpPr txBox="1"/>
          <p:nvPr/>
        </p:nvSpPr>
        <p:spPr>
          <a:xfrm>
            <a:off x="777240" y="5532120"/>
            <a:ext cx="2743200" cy="347472"/>
          </a:xfrm>
          <a:prstGeom prst="rect">
            <a:avLst/>
          </a:prstGeom>
          <a:noFill/>
          <a:ln/>
        </p:spPr>
        <p:txBody>
          <a:bodyPr wrap="square" lIns="0" tIns="0" rIns="0" bIns="0" rtlCol="0" anchor="ctr"/>
          <a:lstStyle/>
          <a:p>
            <a:pPr algn="ctr" indent="0" marL="0">
              <a:buNone/>
            </a:pPr>
            <a:r>
              <a:rPr lang="en-US" sz="1100" spc="300" kern="0" dirty="0">
                <a:solidFill>
                  <a:schemeClr val="accent3"/>
                </a:solidFill>
                <a:latin typeface="Consolas" pitchFamily="34" charset="0"/>
                <a:ea typeface="Consolas" pitchFamily="34" charset="-122"/>
                <a:cs typeface="Consolas" pitchFamily="34" charset="-120"/>
              </a:rPr>
              <a:t>TEAM PAARK  ·  TEAM-36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bg1"/>
                </a:solidFill>
              </a:rPr>
              <a:t>Evidence</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accent3"/>
                </a:solidFill>
              </a:rPr>
              <a:t>Backup · numbers we can stand behind</a:t>
            </a:r>
            <a:endParaRPr lang="en-US" sz="1700" dirty="0"/>
          </a:p>
        </p:txBody>
      </p:sp>
      <p:sp>
        <p:nvSpPr>
          <p:cNvPr id="4" name="Shape 2"/>
          <p:cNvSpPr/>
          <p:nvPr/>
        </p:nvSpPr>
        <p:spPr>
          <a:xfrm>
            <a:off x="5120640" y="0"/>
            <a:ext cx="7071055" cy="6858000"/>
          </a:xfrm>
          <a:prstGeom prst="rect">
            <a:avLst/>
          </a:prstGeom>
          <a:solidFill>
            <a:schemeClr val="bg1"/>
          </a:solidFill>
          <a:ln/>
        </p:spPr>
      </p:sp>
      <p:sp>
        <p:nvSpPr>
          <p:cNvPr id="5" name="Shape 3"/>
          <p:cNvSpPr/>
          <p:nvPr/>
        </p:nvSpPr>
        <p:spPr>
          <a:xfrm>
            <a:off x="685800" y="1828800"/>
            <a:ext cx="1965960" cy="1874520"/>
          </a:xfrm>
          <a:prstGeom prst="rect">
            <a:avLst/>
          </a:prstGeom>
          <a:solidFill>
            <a:schemeClr val="accent4"/>
          </a:solidFill>
          <a:ln/>
        </p:spPr>
      </p:sp>
      <p:sp>
        <p:nvSpPr>
          <p:cNvPr id="6" name="Text 4"/>
          <p:cNvSpPr txBox="1"/>
          <p:nvPr/>
        </p:nvSpPr>
        <p:spPr>
          <a:xfrm>
            <a:off x="868680" y="2011680"/>
            <a:ext cx="1737360" cy="59436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399</a:t>
            </a:r>
            <a:endParaRPr lang="en-US" sz="3200" dirty="0"/>
          </a:p>
        </p:txBody>
      </p:sp>
      <p:sp>
        <p:nvSpPr>
          <p:cNvPr id="7" name="Text 5"/>
          <p:cNvSpPr txBox="1"/>
          <p:nvPr/>
        </p:nvSpPr>
        <p:spPr>
          <a:xfrm>
            <a:off x="868680" y="2670048"/>
            <a:ext cx="1691640" cy="594360"/>
          </a:xfrm>
          <a:prstGeom prst="rect">
            <a:avLst/>
          </a:prstGeom>
          <a:noFill/>
          <a:ln/>
        </p:spPr>
        <p:txBody>
          <a:bodyPr wrap="square" lIns="0" tIns="0" rIns="0" bIns="0" rtlCol="0" anchor="t"/>
          <a:lstStyle/>
          <a:p>
            <a:pPr indent="0" marL="0">
              <a:buNone/>
            </a:pPr>
            <a:r>
              <a:rPr lang="en-US" sz="1400" b="1" dirty="0">
                <a:solidFill>
                  <a:schemeClr val="bg1"/>
                </a:solidFill>
                <a:latin typeface="Arial" pitchFamily="34" charset="0"/>
                <a:ea typeface="Arial" pitchFamily="34" charset="-122"/>
                <a:cs typeface="Arial" pitchFamily="34" charset="-120"/>
              </a:rPr>
              <a:t>backend tests passed on main</a:t>
            </a:r>
            <a:endParaRPr lang="en-US" sz="1400" dirty="0"/>
          </a:p>
        </p:txBody>
      </p:sp>
      <p:sp>
        <p:nvSpPr>
          <p:cNvPr id="8" name="Text 6"/>
          <p:cNvSpPr txBox="1"/>
          <p:nvPr/>
        </p:nvSpPr>
        <p:spPr>
          <a:xfrm>
            <a:off x="868680" y="3291840"/>
            <a:ext cx="1691640" cy="274320"/>
          </a:xfrm>
          <a:prstGeom prst="rect">
            <a:avLst/>
          </a:prstGeom>
          <a:noFill/>
          <a:ln/>
        </p:spPr>
        <p:txBody>
          <a:bodyPr wrap="square" lIns="0" tIns="0" rIns="0" bIns="0" rtlCol="0" anchor="t"/>
          <a:lstStyle/>
          <a:p>
            <a:pPr indent="0" marL="0">
              <a:buNone/>
            </a:pPr>
            <a:r>
              <a:rPr lang="en-US" sz="1100" dirty="0">
                <a:solidFill>
                  <a:schemeClr val="accent2"/>
                </a:solidFill>
                <a:latin typeface="Consolas" pitchFamily="34" charset="0"/>
                <a:ea typeface="Consolas" pitchFamily="34" charset="-122"/>
                <a:cs typeface="Consolas" pitchFamily="34" charset="-120"/>
              </a:rPr>
              <a:t>PG 16 + real Docker</a:t>
            </a:r>
            <a:endParaRPr lang="en-US" sz="1100" dirty="0"/>
          </a:p>
        </p:txBody>
      </p:sp>
      <p:sp>
        <p:nvSpPr>
          <p:cNvPr id="9" name="Shape 7"/>
          <p:cNvSpPr/>
          <p:nvPr/>
        </p:nvSpPr>
        <p:spPr>
          <a:xfrm>
            <a:off x="2788920" y="1828800"/>
            <a:ext cx="1965960" cy="1874520"/>
          </a:xfrm>
          <a:prstGeom prst="rect">
            <a:avLst/>
          </a:prstGeom>
          <a:solidFill>
            <a:schemeClr val="accent4"/>
          </a:solidFill>
          <a:ln/>
        </p:spPr>
      </p:sp>
      <p:sp>
        <p:nvSpPr>
          <p:cNvPr id="10" name="Text 8"/>
          <p:cNvSpPr txBox="1"/>
          <p:nvPr/>
        </p:nvSpPr>
        <p:spPr>
          <a:xfrm>
            <a:off x="2971800" y="2011680"/>
            <a:ext cx="1737360" cy="59436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39/39</a:t>
            </a:r>
            <a:endParaRPr lang="en-US" sz="3200" dirty="0"/>
          </a:p>
        </p:txBody>
      </p:sp>
      <p:sp>
        <p:nvSpPr>
          <p:cNvPr id="11" name="Text 9"/>
          <p:cNvSpPr txBox="1"/>
          <p:nvPr/>
        </p:nvSpPr>
        <p:spPr>
          <a:xfrm>
            <a:off x="2971800" y="2670048"/>
            <a:ext cx="1691640" cy="594360"/>
          </a:xfrm>
          <a:prstGeom prst="rect">
            <a:avLst/>
          </a:prstGeom>
          <a:noFill/>
          <a:ln/>
        </p:spPr>
        <p:txBody>
          <a:bodyPr wrap="square" lIns="0" tIns="0" rIns="0" bIns="0" rtlCol="0" anchor="t"/>
          <a:lstStyle/>
          <a:p>
            <a:pPr indent="0" marL="0">
              <a:buNone/>
            </a:pPr>
            <a:r>
              <a:rPr lang="en-US" sz="1400" b="1" dirty="0">
                <a:solidFill>
                  <a:schemeClr val="bg1"/>
                </a:solidFill>
                <a:latin typeface="Arial" pitchFamily="34" charset="0"/>
                <a:ea typeface="Arial" pitchFamily="34" charset="-122"/>
                <a:cs typeface="Arial" pitchFamily="34" charset="-120"/>
              </a:rPr>
              <a:t>API attacks blocked</a:t>
            </a:r>
            <a:endParaRPr lang="en-US" sz="1400" dirty="0"/>
          </a:p>
        </p:txBody>
      </p:sp>
      <p:sp>
        <p:nvSpPr>
          <p:cNvPr id="12" name="Text 10"/>
          <p:cNvSpPr txBox="1"/>
          <p:nvPr/>
        </p:nvSpPr>
        <p:spPr>
          <a:xfrm>
            <a:off x="2971800" y="3291840"/>
            <a:ext cx="1691640" cy="274320"/>
          </a:xfrm>
          <a:prstGeom prst="rect">
            <a:avLst/>
          </a:prstGeom>
          <a:noFill/>
          <a:ln/>
        </p:spPr>
        <p:txBody>
          <a:bodyPr wrap="square" lIns="0" tIns="0" rIns="0" bIns="0" rtlCol="0" anchor="t"/>
          <a:lstStyle/>
          <a:p>
            <a:pPr indent="0" marL="0">
              <a:buNone/>
            </a:pPr>
            <a:r>
              <a:rPr lang="en-US" sz="1100" dirty="0">
                <a:solidFill>
                  <a:schemeClr val="accent2"/>
                </a:solidFill>
                <a:latin typeface="Consolas" pitchFamily="34" charset="0"/>
                <a:ea typeface="Consolas" pitchFamily="34" charset="-122"/>
                <a:cs typeface="Consolas" pitchFamily="34" charset="-120"/>
              </a:rPr>
              <a:t>CSRF · IDOR · paths</a:t>
            </a:r>
            <a:endParaRPr lang="en-US" sz="1100" dirty="0"/>
          </a:p>
        </p:txBody>
      </p:sp>
      <p:sp>
        <p:nvSpPr>
          <p:cNvPr id="13" name="Shape 11"/>
          <p:cNvSpPr/>
          <p:nvPr/>
        </p:nvSpPr>
        <p:spPr>
          <a:xfrm>
            <a:off x="685800" y="3886200"/>
            <a:ext cx="1965960" cy="1874520"/>
          </a:xfrm>
          <a:prstGeom prst="rect">
            <a:avLst/>
          </a:prstGeom>
          <a:solidFill>
            <a:schemeClr val="accent4"/>
          </a:solidFill>
          <a:ln/>
        </p:spPr>
      </p:sp>
      <p:sp>
        <p:nvSpPr>
          <p:cNvPr id="14" name="Text 12"/>
          <p:cNvSpPr txBox="1"/>
          <p:nvPr/>
        </p:nvSpPr>
        <p:spPr>
          <a:xfrm>
            <a:off x="868680" y="4069080"/>
            <a:ext cx="1737360" cy="59436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17/17</a:t>
            </a:r>
            <a:endParaRPr lang="en-US" sz="3200" dirty="0"/>
          </a:p>
        </p:txBody>
      </p:sp>
      <p:sp>
        <p:nvSpPr>
          <p:cNvPr id="15" name="Text 13"/>
          <p:cNvSpPr txBox="1"/>
          <p:nvPr/>
        </p:nvSpPr>
        <p:spPr>
          <a:xfrm>
            <a:off x="868680" y="4727448"/>
            <a:ext cx="1691640" cy="594360"/>
          </a:xfrm>
          <a:prstGeom prst="rect">
            <a:avLst/>
          </a:prstGeom>
          <a:noFill/>
          <a:ln/>
        </p:spPr>
        <p:txBody>
          <a:bodyPr wrap="square" lIns="0" tIns="0" rIns="0" bIns="0" rtlCol="0" anchor="t"/>
          <a:lstStyle/>
          <a:p>
            <a:pPr indent="0" marL="0">
              <a:buNone/>
            </a:pPr>
            <a:r>
              <a:rPr lang="en-US" sz="1400" b="1" dirty="0">
                <a:solidFill>
                  <a:schemeClr val="bg1"/>
                </a:solidFill>
                <a:latin typeface="Arial" pitchFamily="34" charset="0"/>
                <a:ea typeface="Arial" pitchFamily="34" charset="-122"/>
                <a:cs typeface="Arial" pitchFamily="34" charset="-120"/>
              </a:rPr>
              <a:t>API journey steps</a:t>
            </a:r>
            <a:endParaRPr lang="en-US" sz="1400" dirty="0"/>
          </a:p>
        </p:txBody>
      </p:sp>
      <p:sp>
        <p:nvSpPr>
          <p:cNvPr id="16" name="Text 14"/>
          <p:cNvSpPr txBox="1"/>
          <p:nvPr/>
        </p:nvSpPr>
        <p:spPr>
          <a:xfrm>
            <a:off x="868680" y="5349240"/>
            <a:ext cx="1691640" cy="274320"/>
          </a:xfrm>
          <a:prstGeom prst="rect">
            <a:avLst/>
          </a:prstGeom>
          <a:noFill/>
          <a:ln/>
        </p:spPr>
        <p:txBody>
          <a:bodyPr wrap="square" lIns="0" tIns="0" rIns="0" bIns="0" rtlCol="0" anchor="t"/>
          <a:lstStyle/>
          <a:p>
            <a:pPr indent="0" marL="0">
              <a:buNone/>
            </a:pPr>
            <a:r>
              <a:rPr lang="en-US" sz="1100" dirty="0">
                <a:solidFill>
                  <a:schemeClr val="accent2"/>
                </a:solidFill>
                <a:latin typeface="Consolas" pitchFamily="34" charset="0"/>
                <a:ea typeface="Consolas" pitchFamily="34" charset="-122"/>
                <a:cs typeface="Consolas" pitchFamily="34" charset="-120"/>
              </a:rPr>
              <a:t>upload → report</a:t>
            </a:r>
            <a:endParaRPr lang="en-US" sz="1100" dirty="0"/>
          </a:p>
        </p:txBody>
      </p:sp>
      <p:sp>
        <p:nvSpPr>
          <p:cNvPr id="17" name="Shape 15"/>
          <p:cNvSpPr/>
          <p:nvPr/>
        </p:nvSpPr>
        <p:spPr>
          <a:xfrm>
            <a:off x="2788920" y="3886200"/>
            <a:ext cx="1965960" cy="1874520"/>
          </a:xfrm>
          <a:prstGeom prst="rect">
            <a:avLst/>
          </a:prstGeom>
          <a:solidFill>
            <a:schemeClr val="accent4"/>
          </a:solidFill>
          <a:ln/>
        </p:spPr>
      </p:sp>
      <p:sp>
        <p:nvSpPr>
          <p:cNvPr id="18" name="Text 16"/>
          <p:cNvSpPr txBox="1"/>
          <p:nvPr/>
        </p:nvSpPr>
        <p:spPr>
          <a:xfrm>
            <a:off x="2971800" y="4069080"/>
            <a:ext cx="1737360" cy="59436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31/31</a:t>
            </a:r>
            <a:endParaRPr lang="en-US" sz="3200" dirty="0"/>
          </a:p>
        </p:txBody>
      </p:sp>
      <p:sp>
        <p:nvSpPr>
          <p:cNvPr id="19" name="Text 17"/>
          <p:cNvSpPr txBox="1"/>
          <p:nvPr/>
        </p:nvSpPr>
        <p:spPr>
          <a:xfrm>
            <a:off x="2971800" y="4727448"/>
            <a:ext cx="1691640" cy="594360"/>
          </a:xfrm>
          <a:prstGeom prst="rect">
            <a:avLst/>
          </a:prstGeom>
          <a:noFill/>
          <a:ln/>
        </p:spPr>
        <p:txBody>
          <a:bodyPr wrap="square" lIns="0" tIns="0" rIns="0" bIns="0" rtlCol="0" anchor="t"/>
          <a:lstStyle/>
          <a:p>
            <a:pPr indent="0" marL="0">
              <a:buNone/>
            </a:pPr>
            <a:r>
              <a:rPr lang="en-US" sz="1400" b="1" dirty="0">
                <a:solidFill>
                  <a:schemeClr val="bg1"/>
                </a:solidFill>
                <a:latin typeface="Arial" pitchFamily="34" charset="0"/>
                <a:ea typeface="Arial" pitchFamily="34" charset="-122"/>
                <a:cs typeface="Arial" pitchFamily="34" charset="-120"/>
              </a:rPr>
              <a:t>deploy checks (reported)</a:t>
            </a:r>
            <a:endParaRPr lang="en-US" sz="1400" dirty="0"/>
          </a:p>
        </p:txBody>
      </p:sp>
      <p:sp>
        <p:nvSpPr>
          <p:cNvPr id="20" name="Text 18"/>
          <p:cNvSpPr txBox="1"/>
          <p:nvPr/>
        </p:nvSpPr>
        <p:spPr>
          <a:xfrm>
            <a:off x="2971800" y="5349240"/>
            <a:ext cx="1691640" cy="274320"/>
          </a:xfrm>
          <a:prstGeom prst="rect">
            <a:avLst/>
          </a:prstGeom>
          <a:noFill/>
          <a:ln/>
        </p:spPr>
        <p:txBody>
          <a:bodyPr wrap="square" lIns="0" tIns="0" rIns="0" bIns="0" rtlCol="0" anchor="t"/>
          <a:lstStyle/>
          <a:p>
            <a:pPr indent="0" marL="0">
              <a:buNone/>
            </a:pPr>
            <a:r>
              <a:rPr lang="en-US" sz="1100" dirty="0">
                <a:solidFill>
                  <a:schemeClr val="accent2"/>
                </a:solidFill>
                <a:latin typeface="Consolas" pitchFamily="34" charset="0"/>
                <a:ea typeface="Consolas" pitchFamily="34" charset="-122"/>
                <a:cs typeface="Consolas" pitchFamily="34" charset="-120"/>
              </a:rPr>
              <a:t>3 runs · Windows 11</a:t>
            </a:r>
            <a:endParaRPr lang="en-US" sz="1100" dirty="0"/>
          </a:p>
        </p:txBody>
      </p:sp>
      <p:graphicFrame>
        <p:nvGraphicFramePr>
          <p:cNvPr id="21" name="Chart 0" descr=""/>
          <p:cNvGraphicFramePr/>
          <p:nvPr/>
        </p:nvGraphicFramePr>
        <p:xfrm>
          <a:off x="5577840" y="731520"/>
          <a:ext cx="6172200" cy="484632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txBox="1"/>
          <p:nvPr/>
        </p:nvSpPr>
        <p:spPr>
          <a:xfrm>
            <a:off x="5669280" y="5669280"/>
            <a:ext cx="5943600" cy="59436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Full suite on main: 399 passed, 0 skipped. Also: 10/10 canned jailbreaks blocked; all 3 seed tasks validated on real Docker.</a:t>
            </a:r>
            <a:endParaRPr lang="en-US" sz="14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tx1"/>
                </a:solidFill>
              </a:rPr>
              <a:t>Sandbox</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tx2"/>
                </a:solidFill>
              </a:rPr>
              <a:t>Backup · what every run enforces</a:t>
            </a:r>
            <a:endParaRPr lang="en-US" sz="1700" dirty="0"/>
          </a:p>
        </p:txBody>
      </p:sp>
      <p:sp>
        <p:nvSpPr>
          <p:cNvPr id="4" name="Shape 2"/>
          <p:cNvSpPr/>
          <p:nvPr/>
        </p:nvSpPr>
        <p:spPr>
          <a:xfrm>
            <a:off x="685800" y="1828800"/>
            <a:ext cx="3474720" cy="1417320"/>
          </a:xfrm>
          <a:prstGeom prst="roundRect">
            <a:avLst>
              <a:gd name="adj" fmla="val 6452"/>
            </a:avLst>
          </a:prstGeom>
          <a:solidFill>
            <a:schemeClr val="bg2"/>
          </a:solidFill>
          <a:ln/>
        </p:spPr>
      </p:sp>
      <p:sp>
        <p:nvSpPr>
          <p:cNvPr id="5" name="Shape 3"/>
          <p:cNvSpPr/>
          <p:nvPr/>
        </p:nvSpPr>
        <p:spPr>
          <a:xfrm>
            <a:off x="914400" y="2176272"/>
            <a:ext cx="731520" cy="731520"/>
          </a:xfrm>
          <a:prstGeom prst="ellipse">
            <a:avLst/>
          </a:prstGeom>
          <a:solidFill>
            <a:schemeClr val="tx1"/>
          </a:solidFill>
          <a:ln/>
        </p:spPr>
      </p:sp>
      <p:pic>
        <p:nvPicPr>
          <p:cNvPr id="6" name="Image 0" descr="preencoded.png">    </p:cNvPr>
          <p:cNvPicPr>
            <a:picLocks noChangeAspect="1"/>
          </p:cNvPicPr>
          <p:nvPr/>
        </p:nvPicPr>
        <p:blipFill>
          <a:blip r:embed="rId1"/>
          <a:stretch>
            <a:fillRect/>
          </a:stretch>
        </p:blipFill>
        <p:spPr>
          <a:xfrm>
            <a:off x="1111910" y="2373782"/>
            <a:ext cx="336499" cy="336499"/>
          </a:xfrm>
          <a:prstGeom prst="rect">
            <a:avLst/>
          </a:prstGeom>
        </p:spPr>
      </p:pic>
      <p:sp>
        <p:nvSpPr>
          <p:cNvPr id="7" name="Text 4"/>
          <p:cNvSpPr txBox="1"/>
          <p:nvPr/>
        </p:nvSpPr>
        <p:spPr>
          <a:xfrm>
            <a:off x="1874520" y="2148840"/>
            <a:ext cx="214884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No network</a:t>
            </a:r>
            <a:endParaRPr lang="en-US" sz="1800" dirty="0"/>
          </a:p>
        </p:txBody>
      </p:sp>
      <p:sp>
        <p:nvSpPr>
          <p:cNvPr id="8" name="Text 5"/>
          <p:cNvSpPr txBox="1"/>
          <p:nvPr/>
        </p:nvSpPr>
        <p:spPr>
          <a:xfrm>
            <a:off x="1874520" y="2578608"/>
            <a:ext cx="2148840" cy="50292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--network none</a:t>
            </a:r>
            <a:endParaRPr lang="en-US" sz="1200" dirty="0"/>
          </a:p>
        </p:txBody>
      </p:sp>
      <p:sp>
        <p:nvSpPr>
          <p:cNvPr id="9" name="Shape 6"/>
          <p:cNvSpPr/>
          <p:nvPr/>
        </p:nvSpPr>
        <p:spPr>
          <a:xfrm>
            <a:off x="4343400" y="1828800"/>
            <a:ext cx="3474720" cy="1417320"/>
          </a:xfrm>
          <a:prstGeom prst="roundRect">
            <a:avLst>
              <a:gd name="adj" fmla="val 6452"/>
            </a:avLst>
          </a:prstGeom>
          <a:solidFill>
            <a:schemeClr val="bg2"/>
          </a:solidFill>
          <a:ln/>
        </p:spPr>
      </p:sp>
      <p:sp>
        <p:nvSpPr>
          <p:cNvPr id="10" name="Shape 7"/>
          <p:cNvSpPr/>
          <p:nvPr/>
        </p:nvSpPr>
        <p:spPr>
          <a:xfrm>
            <a:off x="4572000" y="2176272"/>
            <a:ext cx="731520" cy="731520"/>
          </a:xfrm>
          <a:prstGeom prst="ellipse">
            <a:avLst/>
          </a:prstGeom>
          <a:solidFill>
            <a:schemeClr val="tx1"/>
          </a:solidFill>
          <a:ln/>
        </p:spPr>
      </p:sp>
      <p:pic>
        <p:nvPicPr>
          <p:cNvPr id="11" name="Image 1" descr="preencoded.png">    </p:cNvPr>
          <p:cNvPicPr>
            <a:picLocks noChangeAspect="1"/>
          </p:cNvPicPr>
          <p:nvPr/>
        </p:nvPicPr>
        <p:blipFill>
          <a:blip r:embed="rId2"/>
          <a:stretch>
            <a:fillRect/>
          </a:stretch>
        </p:blipFill>
        <p:spPr>
          <a:xfrm>
            <a:off x="4769510" y="2373782"/>
            <a:ext cx="336499" cy="336499"/>
          </a:xfrm>
          <a:prstGeom prst="rect">
            <a:avLst/>
          </a:prstGeom>
        </p:spPr>
      </p:pic>
      <p:sp>
        <p:nvSpPr>
          <p:cNvPr id="12" name="Text 8"/>
          <p:cNvSpPr txBox="1"/>
          <p:nvPr/>
        </p:nvSpPr>
        <p:spPr>
          <a:xfrm>
            <a:off x="5532120" y="2148840"/>
            <a:ext cx="214884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Resource limits</a:t>
            </a:r>
            <a:endParaRPr lang="en-US" sz="1800" dirty="0"/>
          </a:p>
        </p:txBody>
      </p:sp>
      <p:sp>
        <p:nvSpPr>
          <p:cNvPr id="13" name="Text 9"/>
          <p:cNvSpPr txBox="1"/>
          <p:nvPr/>
        </p:nvSpPr>
        <p:spPr>
          <a:xfrm>
            <a:off x="5532120" y="2578608"/>
            <a:ext cx="2148840" cy="50292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5 s · 128 MB · 1 CPU · 32 procs</a:t>
            </a:r>
            <a:endParaRPr lang="en-US" sz="1200" dirty="0"/>
          </a:p>
        </p:txBody>
      </p:sp>
      <p:sp>
        <p:nvSpPr>
          <p:cNvPr id="14" name="Shape 10"/>
          <p:cNvSpPr/>
          <p:nvPr/>
        </p:nvSpPr>
        <p:spPr>
          <a:xfrm>
            <a:off x="8001000" y="1828800"/>
            <a:ext cx="3474720" cy="1417320"/>
          </a:xfrm>
          <a:prstGeom prst="roundRect">
            <a:avLst>
              <a:gd name="adj" fmla="val 6452"/>
            </a:avLst>
          </a:prstGeom>
          <a:solidFill>
            <a:schemeClr val="bg2"/>
          </a:solidFill>
          <a:ln/>
        </p:spPr>
      </p:sp>
      <p:sp>
        <p:nvSpPr>
          <p:cNvPr id="15" name="Shape 11"/>
          <p:cNvSpPr/>
          <p:nvPr/>
        </p:nvSpPr>
        <p:spPr>
          <a:xfrm>
            <a:off x="8229600" y="2176272"/>
            <a:ext cx="731520" cy="731520"/>
          </a:xfrm>
          <a:prstGeom prst="ellipse">
            <a:avLst/>
          </a:prstGeom>
          <a:solidFill>
            <a:schemeClr val="tx1"/>
          </a:solidFill>
          <a:ln/>
        </p:spPr>
      </p:sp>
      <p:pic>
        <p:nvPicPr>
          <p:cNvPr id="16" name="Image 2" descr="preencoded.png">    </p:cNvPr>
          <p:cNvPicPr>
            <a:picLocks noChangeAspect="1"/>
          </p:cNvPicPr>
          <p:nvPr/>
        </p:nvPicPr>
        <p:blipFill>
          <a:blip r:embed="rId3"/>
          <a:stretch>
            <a:fillRect/>
          </a:stretch>
        </p:blipFill>
        <p:spPr>
          <a:xfrm>
            <a:off x="8427110" y="2373782"/>
            <a:ext cx="336499" cy="336499"/>
          </a:xfrm>
          <a:prstGeom prst="rect">
            <a:avLst/>
          </a:prstGeom>
        </p:spPr>
      </p:pic>
      <p:sp>
        <p:nvSpPr>
          <p:cNvPr id="17" name="Text 12"/>
          <p:cNvSpPr txBox="1"/>
          <p:nvPr/>
        </p:nvSpPr>
        <p:spPr>
          <a:xfrm>
            <a:off x="9189720" y="2148840"/>
            <a:ext cx="214884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Read-only files</a:t>
            </a:r>
            <a:endParaRPr lang="en-US" sz="1800" dirty="0"/>
          </a:p>
        </p:txBody>
      </p:sp>
      <p:sp>
        <p:nvSpPr>
          <p:cNvPr id="18" name="Text 13"/>
          <p:cNvSpPr txBox="1"/>
          <p:nvPr/>
        </p:nvSpPr>
        <p:spPr>
          <a:xfrm>
            <a:off x="9189720" y="2578608"/>
            <a:ext cx="2148840" cy="50292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small noexec /tmp only</a:t>
            </a:r>
            <a:endParaRPr lang="en-US" sz="1200" dirty="0"/>
          </a:p>
        </p:txBody>
      </p:sp>
      <p:sp>
        <p:nvSpPr>
          <p:cNvPr id="19" name="Shape 14"/>
          <p:cNvSpPr/>
          <p:nvPr/>
        </p:nvSpPr>
        <p:spPr>
          <a:xfrm>
            <a:off x="685800" y="3474720"/>
            <a:ext cx="3474720" cy="1417320"/>
          </a:xfrm>
          <a:prstGeom prst="roundRect">
            <a:avLst>
              <a:gd name="adj" fmla="val 6452"/>
            </a:avLst>
          </a:prstGeom>
          <a:solidFill>
            <a:schemeClr val="bg2"/>
          </a:solidFill>
          <a:ln/>
        </p:spPr>
      </p:sp>
      <p:sp>
        <p:nvSpPr>
          <p:cNvPr id="20" name="Shape 15"/>
          <p:cNvSpPr/>
          <p:nvPr/>
        </p:nvSpPr>
        <p:spPr>
          <a:xfrm>
            <a:off x="914400" y="3822192"/>
            <a:ext cx="731520" cy="731520"/>
          </a:xfrm>
          <a:prstGeom prst="ellipse">
            <a:avLst/>
          </a:prstGeom>
          <a:solidFill>
            <a:schemeClr val="tx1"/>
          </a:solidFill>
          <a:ln/>
        </p:spPr>
      </p:sp>
      <p:pic>
        <p:nvPicPr>
          <p:cNvPr id="21" name="Image 3" descr="preencoded.png">    </p:cNvPr>
          <p:cNvPicPr>
            <a:picLocks noChangeAspect="1"/>
          </p:cNvPicPr>
          <p:nvPr/>
        </p:nvPicPr>
        <p:blipFill>
          <a:blip r:embed="rId4"/>
          <a:stretch>
            <a:fillRect/>
          </a:stretch>
        </p:blipFill>
        <p:spPr>
          <a:xfrm>
            <a:off x="1111910" y="4019702"/>
            <a:ext cx="336499" cy="336499"/>
          </a:xfrm>
          <a:prstGeom prst="rect">
            <a:avLst/>
          </a:prstGeom>
        </p:spPr>
      </p:pic>
      <p:sp>
        <p:nvSpPr>
          <p:cNvPr id="22" name="Text 16"/>
          <p:cNvSpPr txBox="1"/>
          <p:nvPr/>
        </p:nvSpPr>
        <p:spPr>
          <a:xfrm>
            <a:off x="1874520" y="3794760"/>
            <a:ext cx="214884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Non-root user</a:t>
            </a:r>
            <a:endParaRPr lang="en-US" sz="1800" dirty="0"/>
          </a:p>
        </p:txBody>
      </p:sp>
      <p:sp>
        <p:nvSpPr>
          <p:cNvPr id="23" name="Text 17"/>
          <p:cNvSpPr txBox="1"/>
          <p:nvPr/>
        </p:nvSpPr>
        <p:spPr>
          <a:xfrm>
            <a:off x="1874520" y="4224528"/>
            <a:ext cx="2148840" cy="50292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uid 10001 · capabilities dropped</a:t>
            </a:r>
            <a:endParaRPr lang="en-US" sz="1200" dirty="0"/>
          </a:p>
        </p:txBody>
      </p:sp>
      <p:sp>
        <p:nvSpPr>
          <p:cNvPr id="24" name="Shape 18"/>
          <p:cNvSpPr/>
          <p:nvPr/>
        </p:nvSpPr>
        <p:spPr>
          <a:xfrm>
            <a:off x="4343400" y="3474720"/>
            <a:ext cx="3474720" cy="1417320"/>
          </a:xfrm>
          <a:prstGeom prst="roundRect">
            <a:avLst>
              <a:gd name="adj" fmla="val 6452"/>
            </a:avLst>
          </a:prstGeom>
          <a:solidFill>
            <a:schemeClr val="bg2"/>
          </a:solidFill>
          <a:ln/>
        </p:spPr>
      </p:sp>
      <p:sp>
        <p:nvSpPr>
          <p:cNvPr id="25" name="Shape 19"/>
          <p:cNvSpPr/>
          <p:nvPr/>
        </p:nvSpPr>
        <p:spPr>
          <a:xfrm>
            <a:off x="4572000" y="3822192"/>
            <a:ext cx="731520" cy="731520"/>
          </a:xfrm>
          <a:prstGeom prst="ellipse">
            <a:avLst/>
          </a:prstGeom>
          <a:solidFill>
            <a:schemeClr val="tx1"/>
          </a:solidFill>
          <a:ln/>
        </p:spPr>
      </p:sp>
      <p:pic>
        <p:nvPicPr>
          <p:cNvPr id="26" name="Image 4" descr="preencoded.png">    </p:cNvPr>
          <p:cNvPicPr>
            <a:picLocks noChangeAspect="1"/>
          </p:cNvPicPr>
          <p:nvPr/>
        </p:nvPicPr>
        <p:blipFill>
          <a:blip r:embed="rId5"/>
          <a:stretch>
            <a:fillRect/>
          </a:stretch>
        </p:blipFill>
        <p:spPr>
          <a:xfrm>
            <a:off x="4769510" y="4019702"/>
            <a:ext cx="336499" cy="336499"/>
          </a:xfrm>
          <a:prstGeom prst="rect">
            <a:avLst/>
          </a:prstGeom>
        </p:spPr>
      </p:pic>
      <p:sp>
        <p:nvSpPr>
          <p:cNvPr id="27" name="Text 20"/>
          <p:cNvSpPr txBox="1"/>
          <p:nvPr/>
        </p:nvSpPr>
        <p:spPr>
          <a:xfrm>
            <a:off x="5532120" y="3794760"/>
            <a:ext cx="214884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Hard timeout</a:t>
            </a:r>
            <a:endParaRPr lang="en-US" sz="1800" dirty="0"/>
          </a:p>
        </p:txBody>
      </p:sp>
      <p:sp>
        <p:nvSpPr>
          <p:cNvPr id="28" name="Text 21"/>
          <p:cNvSpPr txBox="1"/>
          <p:nvPr/>
        </p:nvSpPr>
        <p:spPr>
          <a:xfrm>
            <a:off x="5532120" y="4224528"/>
            <a:ext cx="2148840" cy="50292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container killed and removed</a:t>
            </a:r>
            <a:endParaRPr lang="en-US" sz="1200" dirty="0"/>
          </a:p>
        </p:txBody>
      </p:sp>
      <p:sp>
        <p:nvSpPr>
          <p:cNvPr id="29" name="Shape 22"/>
          <p:cNvSpPr/>
          <p:nvPr/>
        </p:nvSpPr>
        <p:spPr>
          <a:xfrm>
            <a:off x="8001000" y="3474720"/>
            <a:ext cx="3474720" cy="1417320"/>
          </a:xfrm>
          <a:prstGeom prst="roundRect">
            <a:avLst>
              <a:gd name="adj" fmla="val 6452"/>
            </a:avLst>
          </a:prstGeom>
          <a:solidFill>
            <a:schemeClr val="bg2"/>
          </a:solidFill>
          <a:ln/>
        </p:spPr>
      </p:sp>
      <p:sp>
        <p:nvSpPr>
          <p:cNvPr id="30" name="Shape 23"/>
          <p:cNvSpPr/>
          <p:nvPr/>
        </p:nvSpPr>
        <p:spPr>
          <a:xfrm>
            <a:off x="8229600" y="3822192"/>
            <a:ext cx="731520" cy="731520"/>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8427110" y="4019702"/>
            <a:ext cx="336499" cy="336499"/>
          </a:xfrm>
          <a:prstGeom prst="rect">
            <a:avLst/>
          </a:prstGeom>
        </p:spPr>
      </p:pic>
      <p:sp>
        <p:nvSpPr>
          <p:cNvPr id="32" name="Text 24"/>
          <p:cNvSpPr txBox="1"/>
          <p:nvPr/>
        </p:nvSpPr>
        <p:spPr>
          <a:xfrm>
            <a:off x="9189720" y="3794760"/>
            <a:ext cx="2148840"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Grader decides</a:t>
            </a:r>
            <a:endParaRPr lang="en-US" sz="1800" dirty="0"/>
          </a:p>
        </p:txBody>
      </p:sp>
      <p:sp>
        <p:nvSpPr>
          <p:cNvPr id="33" name="Text 25"/>
          <p:cNvSpPr txBox="1"/>
          <p:nvPr/>
        </p:nvSpPr>
        <p:spPr>
          <a:xfrm>
            <a:off x="9189720" y="4224528"/>
            <a:ext cx="2148840" cy="50292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never the candidate's exit code</a:t>
            </a:r>
            <a:endParaRPr lang="en-US" sz="1200" dirty="0"/>
          </a:p>
        </p:txBody>
      </p:sp>
      <p:sp>
        <p:nvSpPr>
          <p:cNvPr id="34" name="Shape 26"/>
          <p:cNvSpPr/>
          <p:nvPr/>
        </p:nvSpPr>
        <p:spPr>
          <a:xfrm>
            <a:off x="685800" y="5257800"/>
            <a:ext cx="10789920" cy="868680"/>
          </a:xfrm>
          <a:prstGeom prst="roundRect">
            <a:avLst>
              <a:gd name="adj" fmla="val 10526"/>
            </a:avLst>
          </a:prstGeom>
          <a:solidFill>
            <a:schemeClr val="tx1"/>
          </a:solidFill>
          <a:ln/>
        </p:spPr>
      </p:sp>
      <p:pic>
        <p:nvPicPr>
          <p:cNvPr id="35" name="Image 6" descr="preencoded.png">    </p:cNvPr>
          <p:cNvPicPr>
            <a:picLocks noChangeAspect="1"/>
          </p:cNvPicPr>
          <p:nvPr/>
        </p:nvPicPr>
        <p:blipFill>
          <a:blip r:embed="rId7"/>
          <a:stretch>
            <a:fillRect/>
          </a:stretch>
        </p:blipFill>
        <p:spPr>
          <a:xfrm>
            <a:off x="914400" y="5486400"/>
            <a:ext cx="411480" cy="411480"/>
          </a:xfrm>
          <a:prstGeom prst="rect">
            <a:avLst/>
          </a:prstGeom>
        </p:spPr>
      </p:pic>
      <p:sp>
        <p:nvSpPr>
          <p:cNvPr id="36" name="Text 27"/>
          <p:cNvSpPr txBox="1"/>
          <p:nvPr/>
        </p:nvSpPr>
        <p:spPr>
          <a:xfrm>
            <a:off x="1554480" y="5257800"/>
            <a:ext cx="9692640" cy="868680"/>
          </a:xfrm>
          <a:prstGeom prst="rect">
            <a:avLst/>
          </a:prstGeom>
          <a:noFill/>
          <a:ln/>
        </p:spPr>
        <p:txBody>
          <a:bodyPr wrap="square" lIns="0" tIns="0" rIns="0" bIns="0" rtlCol="0" anchor="ctr"/>
          <a:lstStyle/>
          <a:p>
            <a:pPr indent="0" marL="0">
              <a:buNone/>
            </a:pPr>
            <a:r>
              <a:rPr lang="en-US" sz="1400" dirty="0">
                <a:solidFill>
                  <a:schemeClr val="bg1"/>
                </a:solidFill>
                <a:latin typeface="Arial" pitchFamily="34" charset="0"/>
                <a:ea typeface="Arial" pitchFamily="34" charset="-122"/>
                <a:cs typeface="Arial" pitchFamily="34" charset="-120"/>
              </a:rPr>
              <a:t>Hostile cases: infinite loop killed at 5 s · fork bomb contained at 32 processes · ~20 MB output capped at 65,536 bytes · Docker down → 503, no fake grade.</a:t>
            </a:r>
            <a:endParaRPr lang="en-US" sz="14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bg1"/>
                </a:solidFill>
              </a:rPr>
              <a:t>Validation</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accent3"/>
                </a:solidFill>
              </a:rPr>
              <a:t>Backup · eight gates before a task is released</a:t>
            </a:r>
            <a:endParaRPr lang="en-US" sz="1700" dirty="0"/>
          </a:p>
        </p:txBody>
      </p:sp>
      <p:pic>
        <p:nvPicPr>
          <p:cNvPr id="4" name="Image 0" descr="preencoded.png">    </p:cNvPr>
          <p:cNvPicPr>
            <a:picLocks noChangeAspect="1"/>
          </p:cNvPicPr>
          <p:nvPr/>
        </p:nvPicPr>
        <p:blipFill>
          <a:blip r:embed="rId1"/>
          <a:stretch>
            <a:fillRect/>
          </a:stretch>
        </p:blipFill>
        <p:spPr>
          <a:xfrm>
            <a:off x="9445752" y="0"/>
            <a:ext cx="2743200" cy="2743200"/>
          </a:xfrm>
          <a:prstGeom prst="rect">
            <a:avLst/>
          </a:prstGeom>
        </p:spPr>
      </p:pic>
      <p:sp>
        <p:nvSpPr>
          <p:cNvPr id="5" name="Gate 1"/>
          <p:cNvSpPr/>
          <p:nvPr/>
        </p:nvSpPr>
        <p:spPr>
          <a:xfrm>
            <a:off x="685800" y="1828800"/>
            <a:ext cx="2788920" cy="685800"/>
          </a:xfrm>
          <a:prstGeom prst="homePlate">
            <a:avLst/>
          </a:prstGeom>
          <a:solidFill>
            <a:schemeClr val="accent4"/>
          </a:solidFill>
          <a:ln/>
        </p:spPr>
      </p:sp>
      <p:sp>
        <p:nvSpPr>
          <p:cNvPr id="6" name="Text 3"/>
          <p:cNvSpPr txBox="1"/>
          <p:nvPr/>
        </p:nvSpPr>
        <p:spPr>
          <a:xfrm>
            <a:off x="914400" y="1828800"/>
            <a:ext cx="2103120" cy="68580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01  Schema</a:t>
            </a:r>
            <a:endParaRPr lang="en-US" sz="1600" dirty="0"/>
          </a:p>
        </p:txBody>
      </p:sp>
      <p:sp>
        <p:nvSpPr>
          <p:cNvPr id="7" name="Text 4"/>
          <p:cNvSpPr txBox="1"/>
          <p:nvPr/>
        </p:nvSpPr>
        <p:spPr>
          <a:xfrm>
            <a:off x="914400" y="2651760"/>
            <a:ext cx="2331720" cy="68580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complete task, 3 hints, unique test IDs</a:t>
            </a:r>
            <a:endParaRPr lang="en-US" sz="1400" dirty="0"/>
          </a:p>
        </p:txBody>
      </p:sp>
      <p:sp>
        <p:nvSpPr>
          <p:cNvPr id="8" name="Gate 2"/>
          <p:cNvSpPr/>
          <p:nvPr/>
        </p:nvSpPr>
        <p:spPr>
          <a:xfrm>
            <a:off x="3364992" y="1828800"/>
            <a:ext cx="2788920" cy="685800"/>
          </a:xfrm>
          <a:prstGeom prst="chevron">
            <a:avLst/>
          </a:prstGeom>
          <a:solidFill>
            <a:schemeClr val="accent4"/>
          </a:solidFill>
          <a:ln/>
        </p:spPr>
      </p:sp>
      <p:sp>
        <p:nvSpPr>
          <p:cNvPr id="9" name="Text 6"/>
          <p:cNvSpPr txBox="1"/>
          <p:nvPr/>
        </p:nvSpPr>
        <p:spPr>
          <a:xfrm>
            <a:off x="3867912" y="1828800"/>
            <a:ext cx="2103120" cy="68580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02  Topics</a:t>
            </a:r>
            <a:endParaRPr lang="en-US" sz="1600" dirty="0"/>
          </a:p>
        </p:txBody>
      </p:sp>
      <p:sp>
        <p:nvSpPr>
          <p:cNvPr id="10" name="Text 7"/>
          <p:cNvSpPr txBox="1"/>
          <p:nvPr/>
        </p:nvSpPr>
        <p:spPr>
          <a:xfrm>
            <a:off x="3593592" y="2651760"/>
            <a:ext cx="2331720" cy="68580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AST scan finds no unclaimed constructs</a:t>
            </a:r>
            <a:endParaRPr lang="en-US" sz="1400" dirty="0"/>
          </a:p>
        </p:txBody>
      </p:sp>
      <p:sp>
        <p:nvSpPr>
          <p:cNvPr id="11" name="Gate 3"/>
          <p:cNvSpPr/>
          <p:nvPr/>
        </p:nvSpPr>
        <p:spPr>
          <a:xfrm>
            <a:off x="6044184" y="1828800"/>
            <a:ext cx="2788920" cy="685800"/>
          </a:xfrm>
          <a:prstGeom prst="chevron">
            <a:avLst/>
          </a:prstGeom>
          <a:solidFill>
            <a:schemeClr val="accent4"/>
          </a:solidFill>
          <a:ln/>
        </p:spPr>
      </p:sp>
      <p:sp>
        <p:nvSpPr>
          <p:cNvPr id="12" name="Text 9"/>
          <p:cNvSpPr txBox="1"/>
          <p:nvPr/>
        </p:nvSpPr>
        <p:spPr>
          <a:xfrm>
            <a:off x="6547104" y="1828800"/>
            <a:ext cx="2103120" cy="68580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03  Imports</a:t>
            </a:r>
            <a:endParaRPr lang="en-US" sz="1600" dirty="0"/>
          </a:p>
        </p:txBody>
      </p:sp>
      <p:sp>
        <p:nvSpPr>
          <p:cNvPr id="13" name="Text 10"/>
          <p:cNvSpPr txBox="1"/>
          <p:nvPr/>
        </p:nvSpPr>
        <p:spPr>
          <a:xfrm>
            <a:off x="6272784" y="2651760"/>
            <a:ext cx="2331720" cy="68580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allow-list · no eval / exec</a:t>
            </a:r>
            <a:endParaRPr lang="en-US" sz="1400" dirty="0"/>
          </a:p>
        </p:txBody>
      </p:sp>
      <p:sp>
        <p:nvSpPr>
          <p:cNvPr id="14" name="Gate 4"/>
          <p:cNvSpPr/>
          <p:nvPr/>
        </p:nvSpPr>
        <p:spPr>
          <a:xfrm>
            <a:off x="8723376" y="1828800"/>
            <a:ext cx="2788920" cy="685800"/>
          </a:xfrm>
          <a:prstGeom prst="chevron">
            <a:avLst/>
          </a:prstGeom>
          <a:solidFill>
            <a:schemeClr val="accent4"/>
          </a:solidFill>
          <a:ln/>
        </p:spPr>
      </p:sp>
      <p:sp>
        <p:nvSpPr>
          <p:cNvPr id="15" name="Text 12"/>
          <p:cNvSpPr txBox="1"/>
          <p:nvPr/>
        </p:nvSpPr>
        <p:spPr>
          <a:xfrm>
            <a:off x="9226296" y="1828800"/>
            <a:ext cx="2103120" cy="68580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04  Format</a:t>
            </a:r>
            <a:endParaRPr lang="en-US" sz="1600" dirty="0"/>
          </a:p>
        </p:txBody>
      </p:sp>
      <p:sp>
        <p:nvSpPr>
          <p:cNvPr id="16" name="Text 13"/>
          <p:cNvSpPr txBox="1"/>
          <p:nvPr/>
        </p:nvSpPr>
        <p:spPr>
          <a:xfrm>
            <a:off x="8951976" y="2651760"/>
            <a:ext cx="2331720" cy="68580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fits the split-container runner</a:t>
            </a:r>
            <a:endParaRPr lang="en-US" sz="1400" dirty="0"/>
          </a:p>
        </p:txBody>
      </p:sp>
      <p:sp>
        <p:nvSpPr>
          <p:cNvPr id="17" name="Gate 5"/>
          <p:cNvSpPr/>
          <p:nvPr/>
        </p:nvSpPr>
        <p:spPr>
          <a:xfrm>
            <a:off x="685800" y="3703320"/>
            <a:ext cx="2788920" cy="685800"/>
          </a:xfrm>
          <a:prstGeom prst="homePlate">
            <a:avLst/>
          </a:prstGeom>
          <a:solidFill>
            <a:schemeClr val="accent4"/>
          </a:solidFill>
          <a:ln/>
        </p:spPr>
      </p:sp>
      <p:sp>
        <p:nvSpPr>
          <p:cNvPr id="18" name="Text 15"/>
          <p:cNvSpPr txBox="1"/>
          <p:nvPr/>
        </p:nvSpPr>
        <p:spPr>
          <a:xfrm>
            <a:off x="914400" y="3703320"/>
            <a:ext cx="2103120" cy="68580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05  Leakage</a:t>
            </a:r>
            <a:endParaRPr lang="en-US" sz="1600" dirty="0"/>
          </a:p>
        </p:txBody>
      </p:sp>
      <p:sp>
        <p:nvSpPr>
          <p:cNvPr id="19" name="Text 16"/>
          <p:cNvSpPr txBox="1"/>
          <p:nvPr/>
        </p:nvSpPr>
        <p:spPr>
          <a:xfrm>
            <a:off x="914400" y="4526280"/>
            <a:ext cx="2331720" cy="68580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starter ≠ reference · hints pass guard</a:t>
            </a:r>
            <a:endParaRPr lang="en-US" sz="1400" dirty="0"/>
          </a:p>
        </p:txBody>
      </p:sp>
      <p:sp>
        <p:nvSpPr>
          <p:cNvPr id="20" name="Gate 6"/>
          <p:cNvSpPr/>
          <p:nvPr/>
        </p:nvSpPr>
        <p:spPr>
          <a:xfrm>
            <a:off x="3364992" y="3703320"/>
            <a:ext cx="2788920" cy="685800"/>
          </a:xfrm>
          <a:prstGeom prst="chevron">
            <a:avLst/>
          </a:prstGeom>
          <a:solidFill>
            <a:schemeClr val="accent1"/>
          </a:solidFill>
          <a:ln/>
        </p:spPr>
      </p:sp>
      <p:sp>
        <p:nvSpPr>
          <p:cNvPr id="21" name="Text 18"/>
          <p:cNvSpPr txBox="1"/>
          <p:nvPr/>
        </p:nvSpPr>
        <p:spPr>
          <a:xfrm>
            <a:off x="3867912" y="3703320"/>
            <a:ext cx="2103120" cy="6858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06  Reference</a:t>
            </a:r>
            <a:endParaRPr lang="en-US" sz="1600" dirty="0"/>
          </a:p>
        </p:txBody>
      </p:sp>
      <p:sp>
        <p:nvSpPr>
          <p:cNvPr id="22" name="Text 19"/>
          <p:cNvSpPr txBox="1"/>
          <p:nvPr/>
        </p:nvSpPr>
        <p:spPr>
          <a:xfrm>
            <a:off x="3593592" y="4526280"/>
            <a:ext cx="2331720" cy="68580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passes every test, 3 runs</a:t>
            </a:r>
            <a:endParaRPr lang="en-US" sz="1400" dirty="0"/>
          </a:p>
        </p:txBody>
      </p:sp>
      <p:sp>
        <p:nvSpPr>
          <p:cNvPr id="23" name="Gate 7"/>
          <p:cNvSpPr/>
          <p:nvPr/>
        </p:nvSpPr>
        <p:spPr>
          <a:xfrm>
            <a:off x="6044184" y="3703320"/>
            <a:ext cx="2788920" cy="685800"/>
          </a:xfrm>
          <a:prstGeom prst="chevron">
            <a:avLst/>
          </a:prstGeom>
          <a:solidFill>
            <a:schemeClr val="accent1"/>
          </a:solidFill>
          <a:ln/>
        </p:spPr>
      </p:sp>
      <p:sp>
        <p:nvSpPr>
          <p:cNvPr id="24" name="Text 21"/>
          <p:cNvSpPr txBox="1"/>
          <p:nvPr/>
        </p:nvSpPr>
        <p:spPr>
          <a:xfrm>
            <a:off x="6547104" y="3703320"/>
            <a:ext cx="2103120" cy="68580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07  Starter</a:t>
            </a:r>
            <a:endParaRPr lang="en-US" sz="1600" dirty="0"/>
          </a:p>
        </p:txBody>
      </p:sp>
      <p:sp>
        <p:nvSpPr>
          <p:cNvPr id="25" name="Text 22"/>
          <p:cNvSpPr txBox="1"/>
          <p:nvPr/>
        </p:nvSpPr>
        <p:spPr>
          <a:xfrm>
            <a:off x="6272784" y="4526280"/>
            <a:ext cx="2331720" cy="68580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fails exactly F2P, passes P2P</a:t>
            </a:r>
            <a:endParaRPr lang="en-US" sz="1400" dirty="0"/>
          </a:p>
        </p:txBody>
      </p:sp>
      <p:sp>
        <p:nvSpPr>
          <p:cNvPr id="26" name="Gate 8"/>
          <p:cNvSpPr/>
          <p:nvPr/>
        </p:nvSpPr>
        <p:spPr>
          <a:xfrm>
            <a:off x="8723376" y="3703320"/>
            <a:ext cx="2788920" cy="685800"/>
          </a:xfrm>
          <a:prstGeom prst="chevron">
            <a:avLst/>
          </a:prstGeom>
          <a:solidFill>
            <a:schemeClr val="accent4"/>
          </a:solidFill>
          <a:ln/>
        </p:spPr>
      </p:sp>
      <p:sp>
        <p:nvSpPr>
          <p:cNvPr id="27" name="Text 24"/>
          <p:cNvSpPr txBox="1"/>
          <p:nvPr/>
        </p:nvSpPr>
        <p:spPr>
          <a:xfrm>
            <a:off x="9226296" y="3703320"/>
            <a:ext cx="2103120" cy="68580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08  Performance</a:t>
            </a:r>
            <a:endParaRPr lang="en-US" sz="1600" dirty="0"/>
          </a:p>
        </p:txBody>
      </p:sp>
      <p:sp>
        <p:nvSpPr>
          <p:cNvPr id="28" name="Text 25"/>
          <p:cNvSpPr txBox="1"/>
          <p:nvPr/>
        </p:nvSpPr>
        <p:spPr>
          <a:xfrm>
            <a:off x="8951976" y="4526280"/>
            <a:ext cx="2331720" cy="68580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Master: reference fast, starter slow</a:t>
            </a:r>
            <a:endParaRPr lang="en-US" sz="1400" dirty="0"/>
          </a:p>
        </p:txBody>
      </p:sp>
      <p:sp>
        <p:nvSpPr>
          <p:cNvPr id="29" name="Text 26"/>
          <p:cNvSpPr txBox="1"/>
          <p:nvPr/>
        </p:nvSpPr>
        <p:spPr>
          <a:xfrm>
            <a:off x="685800" y="5669280"/>
            <a:ext cx="10789920" cy="365760"/>
          </a:xfrm>
          <a:prstGeom prst="rect">
            <a:avLst/>
          </a:prstGeom>
          <a:noFill/>
          <a:ln/>
        </p:spPr>
        <p:txBody>
          <a:bodyPr wrap="square" lIns="0" tIns="0" rIns="0" bIns="0" rtlCol="0" anchor="t"/>
          <a:lstStyle/>
          <a:p>
            <a:pPr indent="0" marL="0">
              <a:buNone/>
            </a:pPr>
            <a:r>
              <a:rPr lang="en-US" sz="1500" dirty="0">
                <a:solidFill>
                  <a:schemeClr val="accent1"/>
                </a:solidFill>
                <a:latin typeface="Arial" pitchFamily="34" charset="0"/>
                <a:ea typeface="Arial" pitchFamily="34" charset="-122"/>
                <a:cs typeface="Arial" pitchFamily="34" charset="-120"/>
              </a:rPr>
              <a:t>A gate that can't run counts as failed: Docker down means the task is rejected, never valid by default.</a:t>
            </a:r>
            <a:endParaRPr lang="en-US" sz="1500" dirty="0"/>
          </a:p>
        </p:txBody>
      </p:sp>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789920" cy="594360"/>
          </a:xfrm>
          <a:prstGeom prst="rect">
            <a:avLst/>
          </a:prstGeom>
          <a:noFill/>
          <a:ln/>
        </p:spPr>
        <p:txBody>
          <a:bodyPr wrap="square" lIns="0" tIns="0" rIns="0" bIns="0" rtlCol="0" anchor="t"/>
          <a:lstStyle/>
          <a:p>
            <a:pPr algn="l" indent="0" marL="0">
              <a:buNone/>
            </a:pPr>
            <a:r>
              <a:rPr lang="en-US" sz="3200" b="1" dirty="0">
                <a:solidFill>
                  <a:schemeClr val="bg1"/>
                </a:solidFill>
              </a:rPr>
              <a:t>AI efficiency score</a:t>
            </a:r>
            <a:endParaRPr lang="en-US" sz="3200" dirty="0"/>
          </a:p>
        </p:txBody>
      </p:sp>
      <p:sp>
        <p:nvSpPr>
          <p:cNvPr id="3" name="Text 0"/>
          <p:cNvSpPr/>
          <p:nvPr>
            <p:ph idx="101" type="body" hasCustomPrompt="1"/>
          </p:nvPr>
        </p:nvSpPr>
        <p:spPr>
          <a:xfrm>
            <a:off x="685800" y="1115568"/>
            <a:ext cx="7315200" cy="365760"/>
          </a:xfrm>
          <a:prstGeom prst="rect">
            <a:avLst/>
          </a:prstGeom>
          <a:noFill/>
          <a:ln/>
        </p:spPr>
        <p:txBody>
          <a:bodyPr wrap="square" lIns="0" tIns="0" rIns="0" bIns="0" rtlCol="0" anchor="t"/>
          <a:lstStyle/>
          <a:p>
            <a:pPr algn="l" indent="0" marL="0">
              <a:buNone/>
            </a:pPr>
            <a:r>
              <a:rPr lang="en-US" sz="1700" dirty="0">
                <a:solidFill>
                  <a:schemeClr val="accent3"/>
                </a:solidFill>
              </a:rPr>
              <a:t>Backup · computed from logs only</a:t>
            </a:r>
            <a:endParaRPr lang="en-US" sz="1700" dirty="0"/>
          </a:p>
        </p:txBody>
      </p:sp>
      <p:sp>
        <p:nvSpPr>
          <p:cNvPr id="4" name="Shape 2"/>
          <p:cNvSpPr/>
          <p:nvPr/>
        </p:nvSpPr>
        <p:spPr>
          <a:xfrm>
            <a:off x="5852160" y="0"/>
            <a:ext cx="6339535" cy="6858000"/>
          </a:xfrm>
          <a:prstGeom prst="rect">
            <a:avLst/>
          </a:prstGeom>
          <a:solidFill>
            <a:schemeClr val="bg1"/>
          </a:solidFill>
          <a:ln/>
        </p:spPr>
      </p:sp>
      <p:sp>
        <p:nvSpPr>
          <p:cNvPr id="5" name="Shape 3"/>
          <p:cNvSpPr/>
          <p:nvPr/>
        </p:nvSpPr>
        <p:spPr>
          <a:xfrm>
            <a:off x="685800" y="1828800"/>
            <a:ext cx="4800600" cy="777240"/>
          </a:xfrm>
          <a:prstGeom prst="rect">
            <a:avLst/>
          </a:prstGeom>
          <a:solidFill>
            <a:schemeClr val="accent4"/>
          </a:solidFill>
          <a:ln/>
        </p:spPr>
      </p:sp>
      <p:sp>
        <p:nvSpPr>
          <p:cNvPr id="6" name="Text 4"/>
          <p:cNvSpPr txBox="1"/>
          <p:nvPr/>
        </p:nvSpPr>
        <p:spPr>
          <a:xfrm>
            <a:off x="868680" y="1828800"/>
            <a:ext cx="4572000" cy="777240"/>
          </a:xfrm>
          <a:prstGeom prst="rect">
            <a:avLst/>
          </a:prstGeom>
          <a:noFill/>
          <a:ln/>
        </p:spPr>
        <p:txBody>
          <a:bodyPr wrap="square" lIns="0" tIns="0" rIns="0" bIns="0" rtlCol="0" anchor="ctr"/>
          <a:lstStyle/>
          <a:p>
            <a:pPr indent="0" marL="0">
              <a:buNone/>
            </a:pPr>
            <a:r>
              <a:rPr lang="en-US" sz="1500" dirty="0">
                <a:solidFill>
                  <a:schemeClr val="accent1"/>
                </a:solidFill>
                <a:latin typeface="Consolas" pitchFamily="34" charset="0"/>
                <a:ea typeface="Consolas" pitchFamily="34" charset="-122"/>
                <a:cs typeface="Consolas" pitchFamily="34" charset="-120"/>
              </a:rPr>
              <a:t>AIE = 20 × gate × (0.5·I + 0.3·H + 0.2·T)</a:t>
            </a:r>
            <a:endParaRPr lang="en-US" sz="1500" dirty="0"/>
          </a:p>
        </p:txBody>
      </p:sp>
      <p:pic>
        <p:nvPicPr>
          <p:cNvPr id="7" name="Image 0" descr="preencoded.png">    </p:cNvPr>
          <p:cNvPicPr>
            <a:picLocks noChangeAspect="1"/>
          </p:cNvPicPr>
          <p:nvPr/>
        </p:nvPicPr>
        <p:blipFill>
          <a:blip r:embed="rId1"/>
          <a:stretch>
            <a:fillRect/>
          </a:stretch>
        </p:blipFill>
        <p:spPr>
          <a:xfrm>
            <a:off x="685800" y="2944368"/>
            <a:ext cx="365760" cy="365760"/>
          </a:xfrm>
          <a:prstGeom prst="rect">
            <a:avLst/>
          </a:prstGeom>
        </p:spPr>
      </p:pic>
      <p:sp>
        <p:nvSpPr>
          <p:cNvPr id="8" name="Text 5"/>
          <p:cNvSpPr txBox="1"/>
          <p:nvPr/>
        </p:nvSpPr>
        <p:spPr>
          <a:xfrm>
            <a:off x="1280160" y="2926080"/>
            <a:ext cx="4206240" cy="548640"/>
          </a:xfrm>
          <a:prstGeom prst="rect">
            <a:avLst/>
          </a:prstGeom>
          <a:noFill/>
          <a:ln/>
        </p:spPr>
        <p:txBody>
          <a:bodyPr wrap="square" lIns="0" tIns="0" rIns="0" bIns="0" rtlCol="0" anchor="t"/>
          <a:lstStyle/>
          <a:p>
            <a:pPr indent="0" marL="0">
              <a:buNone/>
            </a:pPr>
            <a:r>
              <a:rPr lang="en-US" sz="1600" dirty="0">
                <a:solidFill>
                  <a:schemeClr val="bg1"/>
                </a:solidFill>
                <a:latin typeface="Arial" pitchFamily="34" charset="0"/>
                <a:ea typeface="Arial" pitchFamily="34" charset="-122"/>
                <a:cs typeface="Arial" pitchFamily="34" charset="-120"/>
              </a:rPr>
              <a:t>No AI + solved → full 20</a:t>
            </a:r>
            <a:endParaRPr lang="en-US" sz="1600" dirty="0"/>
          </a:p>
        </p:txBody>
      </p:sp>
      <p:pic>
        <p:nvPicPr>
          <p:cNvPr id="9" name="Image 1" descr="preencoded.png">    </p:cNvPr>
          <p:cNvPicPr>
            <a:picLocks noChangeAspect="1"/>
          </p:cNvPicPr>
          <p:nvPr/>
        </p:nvPicPr>
        <p:blipFill>
          <a:blip r:embed="rId2"/>
          <a:stretch>
            <a:fillRect/>
          </a:stretch>
        </p:blipFill>
        <p:spPr>
          <a:xfrm>
            <a:off x="685800" y="3630168"/>
            <a:ext cx="365760" cy="365760"/>
          </a:xfrm>
          <a:prstGeom prst="rect">
            <a:avLst/>
          </a:prstGeom>
        </p:spPr>
      </p:pic>
      <p:sp>
        <p:nvSpPr>
          <p:cNvPr id="10" name="Text 6"/>
          <p:cNvSpPr txBox="1"/>
          <p:nvPr/>
        </p:nvSpPr>
        <p:spPr>
          <a:xfrm>
            <a:off x="1280160" y="3611880"/>
            <a:ext cx="4206240" cy="548640"/>
          </a:xfrm>
          <a:prstGeom prst="rect">
            <a:avLst/>
          </a:prstGeom>
          <a:noFill/>
          <a:ln/>
        </p:spPr>
        <p:txBody>
          <a:bodyPr wrap="square" lIns="0" tIns="0" rIns="0" bIns="0" rtlCol="0" anchor="t"/>
          <a:lstStyle/>
          <a:p>
            <a:pPr indent="0" marL="0">
              <a:buNone/>
            </a:pPr>
            <a:r>
              <a:rPr lang="en-US" sz="1600" dirty="0">
                <a:solidFill>
                  <a:schemeClr val="bg1"/>
                </a:solidFill>
                <a:latin typeface="Arial" pitchFamily="34" charset="0"/>
                <a:ea typeface="Arial" pitchFamily="34" charset="-122"/>
                <a:cs typeface="Arial" pitchFamily="34" charset="-120"/>
              </a:rPr>
              <a:t>No AI + failed → not a free 20</a:t>
            </a:r>
            <a:endParaRPr lang="en-US" sz="1600" dirty="0"/>
          </a:p>
        </p:txBody>
      </p:sp>
      <p:pic>
        <p:nvPicPr>
          <p:cNvPr id="11" name="Image 2" descr="preencoded.png">    </p:cNvPr>
          <p:cNvPicPr>
            <a:picLocks noChangeAspect="1"/>
          </p:cNvPicPr>
          <p:nvPr/>
        </p:nvPicPr>
        <p:blipFill>
          <a:blip r:embed="rId3"/>
          <a:stretch>
            <a:fillRect/>
          </a:stretch>
        </p:blipFill>
        <p:spPr>
          <a:xfrm>
            <a:off x="685800" y="4315968"/>
            <a:ext cx="365760" cy="365760"/>
          </a:xfrm>
          <a:prstGeom prst="rect">
            <a:avLst/>
          </a:prstGeom>
        </p:spPr>
      </p:pic>
      <p:sp>
        <p:nvSpPr>
          <p:cNvPr id="12" name="Text 7"/>
          <p:cNvSpPr txBox="1"/>
          <p:nvPr/>
        </p:nvSpPr>
        <p:spPr>
          <a:xfrm>
            <a:off x="1280160" y="4297680"/>
            <a:ext cx="4206240" cy="548640"/>
          </a:xfrm>
          <a:prstGeom prst="rect">
            <a:avLst/>
          </a:prstGeom>
          <a:noFill/>
          <a:ln/>
        </p:spPr>
        <p:txBody>
          <a:bodyPr wrap="square" lIns="0" tIns="0" rIns="0" bIns="0" rtlCol="0" anchor="t"/>
          <a:lstStyle/>
          <a:p>
            <a:pPr indent="0" marL="0">
              <a:buNone/>
            </a:pPr>
            <a:r>
              <a:rPr lang="en-US" sz="1600" dirty="0">
                <a:solidFill>
                  <a:schemeClr val="bg1"/>
                </a:solidFill>
                <a:latin typeface="Arial" pitchFamily="34" charset="0"/>
                <a:ea typeface="Arial" pitchFamily="34" charset="-122"/>
                <a:cs typeface="Arial" pitchFamily="34" charset="-120"/>
              </a:rPr>
              <a:t>Re-runs without a code change don't count</a:t>
            </a:r>
            <a:endParaRPr lang="en-US" sz="1600" dirty="0"/>
          </a:p>
        </p:txBody>
      </p:sp>
      <p:pic>
        <p:nvPicPr>
          <p:cNvPr id="13" name="Image 3" descr="preencoded.png">    </p:cNvPr>
          <p:cNvPicPr>
            <a:picLocks noChangeAspect="1"/>
          </p:cNvPicPr>
          <p:nvPr/>
        </p:nvPicPr>
        <p:blipFill>
          <a:blip r:embed="rId4"/>
          <a:stretch>
            <a:fillRect/>
          </a:stretch>
        </p:blipFill>
        <p:spPr>
          <a:xfrm>
            <a:off x="685800" y="5001768"/>
            <a:ext cx="365760" cy="365760"/>
          </a:xfrm>
          <a:prstGeom prst="rect">
            <a:avLst/>
          </a:prstGeom>
        </p:spPr>
      </p:pic>
      <p:sp>
        <p:nvSpPr>
          <p:cNvPr id="14" name="Text 8"/>
          <p:cNvSpPr txBox="1"/>
          <p:nvPr/>
        </p:nvSpPr>
        <p:spPr>
          <a:xfrm>
            <a:off x="1280160" y="4983480"/>
            <a:ext cx="4206240" cy="548640"/>
          </a:xfrm>
          <a:prstGeom prst="rect">
            <a:avLst/>
          </a:prstGeom>
          <a:noFill/>
          <a:ln/>
        </p:spPr>
        <p:txBody>
          <a:bodyPr wrap="square" lIns="0" tIns="0" rIns="0" bIns="0" rtlCol="0" anchor="t"/>
          <a:lstStyle/>
          <a:p>
            <a:pPr indent="0" marL="0">
              <a:buNone/>
            </a:pPr>
            <a:r>
              <a:rPr lang="en-US" sz="1600" dirty="0">
                <a:solidFill>
                  <a:schemeClr val="bg1"/>
                </a:solidFill>
                <a:latin typeface="Arial" pitchFamily="34" charset="0"/>
                <a:ea typeface="Arial" pitchFamily="34" charset="-122"/>
                <a:cs typeface="Arial" pitchFamily="34" charset="-120"/>
              </a:rPr>
              <a:t>Blocked jailbreaks weigh 0, shown as flags</a:t>
            </a:r>
            <a:endParaRPr lang="en-US" sz="1600" dirty="0"/>
          </a:p>
        </p:txBody>
      </p:sp>
      <p:sp>
        <p:nvSpPr>
          <p:cNvPr id="15" name="Text 9"/>
          <p:cNvSpPr txBox="1"/>
          <p:nvPr/>
        </p:nvSpPr>
        <p:spPr>
          <a:xfrm>
            <a:off x="685800" y="5760720"/>
            <a:ext cx="4937760" cy="274320"/>
          </a:xfrm>
          <a:prstGeom prst="rect">
            <a:avLst/>
          </a:prstGeom>
          <a:noFill/>
          <a:ln/>
        </p:spPr>
        <p:txBody>
          <a:bodyPr wrap="square" lIns="0" tIns="0" rIns="0" bIns="0" rtlCol="0" anchor="t"/>
          <a:lstStyle/>
          <a:p>
            <a:pPr indent="0" marL="0">
              <a:buNone/>
            </a:pPr>
            <a:r>
              <a:rPr lang="en-US" sz="1200" dirty="0">
                <a:solidFill>
                  <a:schemeClr val="accent2"/>
                </a:solidFill>
                <a:latin typeface="Consolas" pitchFamily="34" charset="0"/>
                <a:ea typeface="Consolas" pitchFamily="34" charset="-122"/>
                <a:cs typeface="Consolas" pitchFamily="34" charset="-120"/>
              </a:rPr>
              <a:t>gate = min(1, final pass rate ÷ 0.5) · H_max = 6</a:t>
            </a:r>
            <a:endParaRPr lang="en-US" sz="1200" dirty="0"/>
          </a:p>
        </p:txBody>
      </p:sp>
      <p:graphicFrame>
        <p:nvGraphicFramePr>
          <p:cNvPr id="16" name="Chart 0" descr=""/>
          <p:cNvGraphicFramePr/>
          <p:nvPr/>
        </p:nvGraphicFramePr>
        <p:xfrm>
          <a:off x="6309360" y="640080"/>
          <a:ext cx="5394960" cy="5394960"/>
        </p:xfrm>
        <a:graphic xmlns:a="http://schemas.openxmlformats.org/drawingml/2006/main">
          <a:graphicData uri="http://schemas.openxmlformats.org/drawingml/2006/chart">
            <c:chart xmlns:c="http://schemas.openxmlformats.org/drawingml/2006/chart" r:id="rId5"/>
          </a:graphicData>
        </a:graphic>
      </p:graphicFrame>
      <p:sp>
        <p:nvSpPr>
          <p:cNvPr id="25" name="Slide Number Placeholder 0"/>
          <p:cNvSpPr>
            <a:spLocks noGrp="1"/>
          </p:cNvSpPr>
          <p:nvPr>
            <p:ph type="sldNum" sz="quarter" idx="4294967295"/>
          </p:nvPr>
        </p:nvSpPr>
        <p:spPr>
          <a:xfrm>
            <a:off x="685800"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C8C8C"/>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orqueCode Mono">
  <a:themeElements>
    <a:clrScheme name="TorqueCode Mono">
      <a:dk1>
        <a:srgbClr val="0A0A0A"/>
      </a:dk1>
      <a:lt1>
        <a:srgbClr val="FFFFFF"/>
      </a:lt1>
      <a:dk2>
        <a:srgbClr val="3A3A3A"/>
      </a:dk2>
      <a:lt2>
        <a:srgbClr val="F2F2F2"/>
      </a:lt2>
      <a:accent1>
        <a:srgbClr val="FF6B6B"/>
      </a:accent1>
      <a:accent2>
        <a:srgbClr val="8C8C8C"/>
      </a:accent2>
      <a:accent3>
        <a:srgbClr val="D9D9D9"/>
      </a:accent3>
      <a:accent4>
        <a:srgbClr val="1C1C1C"/>
      </a:accent4>
      <a:accent5>
        <a:srgbClr val="D94848"/>
      </a:accent5>
      <a:accent6>
        <a:srgbClr val="FFE1E1"/>
      </a:accent6>
      <a:hlink>
        <a:srgbClr val="D94848"/>
      </a:hlink>
      <a:folHlink>
        <a:srgbClr val="8C8C8C"/>
      </a:folHlink>
    </a:clrScheme>
    <a:fontScheme name="TorqueCode Mon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Team PAARK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TorqueCode — Team PAARK pitch</dc:title>
  <dc:subject>PptxGenJS Presentation</dc:subject>
  <dc:creator>Team PAARK</dc:creator>
  <cp:lastModifiedBy>Team PAARK</cp:lastModifiedBy>
  <cp:revision>1</cp:revision>
  <dcterms:created xsi:type="dcterms:W3CDTF">2026-10-31T07:40:03Z</dcterms:created>
  <dcterms:modified xsi:type="dcterms:W3CDTF">2026-10-31T07:40:03Z</dcterms:modified>
</cp:coreProperties>
</file>